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aeeade1ca6d4f8d" /><Relationship Type="http://schemas.openxmlformats.org/package/2006/relationships/metadata/core-properties" Target="/docProps/core.xml" Id="Ra1262d9301fa42c4" /><Relationship Type="http://schemas.openxmlformats.org/officeDocument/2006/relationships/extended-properties" Target="/docProps/app.xml" Id="R821626afaf0e44fb" /><Relationship Type="http://schemas.openxmlformats.org/officeDocument/2006/relationships/custom-properties" Target="/docProps/custom.xml" Id="R9d6bf2780a67409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1e899990a904ca5"/>
    <p:sldId id="257" r:id="R895461b17f1d466a"/>
    <p:sldId id="258" r:id="Re5c07f2db0e74512"/>
    <p:sldId id="259" r:id="R0eff8de6947a468b"/>
    <p:sldId id="260" r:id="Rebc7ef393bf3468f"/>
    <p:sldId id="261" r:id="Rd6c17999828a4ba2"/>
    <p:sldId id="262" r:id="R4f2127f8c5b14286"/>
    <p:sldId id="263" r:id="R80cc14d529614b4b"/>
    <p:sldId id="264" r:id="Rd98821cf9dbb481b"/>
    <p:sldId id="265" r:id="Raf6b7bf6629040ab"/>
    <p:sldId id="266" r:id="R027e3d75118d4d6b"/>
    <p:sldId id="267" r:id="Rb1f3aa13c77e43c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1e899990a904ca5" /><Relationship Type="http://schemas.openxmlformats.org/officeDocument/2006/relationships/slide" Target="/ppt/slides/slide2.xml" Id="R895461b17f1d466a" /><Relationship Type="http://schemas.openxmlformats.org/officeDocument/2006/relationships/slide" Target="/ppt/slides/slide3.xml" Id="Re5c07f2db0e74512" /><Relationship Type="http://schemas.openxmlformats.org/officeDocument/2006/relationships/slide" Target="/ppt/slides/slide4.xml" Id="R0eff8de6947a468b" /><Relationship Type="http://schemas.openxmlformats.org/officeDocument/2006/relationships/slide" Target="/ppt/slides/slide5.xml" Id="Rebc7ef393bf3468f" /><Relationship Type="http://schemas.openxmlformats.org/officeDocument/2006/relationships/slide" Target="/ppt/slides/slide6.xml" Id="Rd6c17999828a4ba2" /><Relationship Type="http://schemas.openxmlformats.org/officeDocument/2006/relationships/slide" Target="/ppt/slides/slide7.xml" Id="R4f2127f8c5b14286" /><Relationship Type="http://schemas.openxmlformats.org/officeDocument/2006/relationships/slide" Target="/ppt/slides/slide8.xml" Id="R80cc14d529614b4b" /><Relationship Type="http://schemas.openxmlformats.org/officeDocument/2006/relationships/slide" Target="/ppt/slides/slide9.xml" Id="Rd98821cf9dbb481b" /><Relationship Type="http://schemas.openxmlformats.org/officeDocument/2006/relationships/slide" Target="/ppt/slides/slide10.xml" Id="Raf6b7bf6629040ab" /><Relationship Type="http://schemas.openxmlformats.org/officeDocument/2006/relationships/slide" Target="/ppt/slides/slide11.xml" Id="R027e3d75118d4d6b" /><Relationship Type="http://schemas.openxmlformats.org/officeDocument/2006/relationships/slide" Target="/ppt/slides/slide12.xml" Id="Rb1f3aa13c77e43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Introduce Fracture: local AI video assistant for I-frame scene split, CLIP+DBSCAN clustering, lossless export.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Frame the problem: speed, semantics, quality. Local offline workflows.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five-stage pipeline and map each stage to a source module.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I-frame scene detection and why it is faster than full decode.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Detail parallel mid-scene thumbnail extraction and concurrency limits.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CLIP embedding strategy and model caching.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StandardScaler + DBSCAN and tunable parameters.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Describe curation UX and FFmpeg concat demuxer stream-copy export.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Show four-layer architecture from UI to runtime packaging.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Discuss methodology trade-offs honestly.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Quick inventory of the technology stack.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with the three pillars: Fast, Semantic, Lossless.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9ca61192c40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d9ce664034a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233ec383a4c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bede5ef4443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866f7d79b4c2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4ff750e125d400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7ab41be154dbb" /><Relationship Type="http://schemas.openxmlformats.org/officeDocument/2006/relationships/notesSlide" Target="/ppt/notesSlides/notesSlide1.xml" Id="R99b682492a9e40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d2e1f7b9647d8" /><Relationship Type="http://schemas.openxmlformats.org/officeDocument/2006/relationships/notesSlide" Target="/ppt/notesSlides/notesSlide2.xml" Id="Rd6afe2931f03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8ed56b5c24c14" /><Relationship Type="http://schemas.openxmlformats.org/officeDocument/2006/relationships/notesSlide" Target="/ppt/notesSlides/notesSlide3.xml" Id="Rbd6a2764ffa440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3dee968d742f1" /><Relationship Type="http://schemas.openxmlformats.org/officeDocument/2006/relationships/notesSlide" Target="/ppt/notesSlides/notesSlide4.xml" Id="Rdc468e6efbbd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7cf1938694161" /><Relationship Type="http://schemas.openxmlformats.org/officeDocument/2006/relationships/notesSlide" Target="/ppt/notesSlides/notesSlide5.xml" Id="Rc72123b2bc1446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84005fbcb41f7" /><Relationship Type="http://schemas.openxmlformats.org/officeDocument/2006/relationships/notesSlide" Target="/ppt/notesSlides/notesSlide6.xml" Id="Rec0f7c0687354f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d3d53af9d4ee7" /><Relationship Type="http://schemas.openxmlformats.org/officeDocument/2006/relationships/notesSlide" Target="/ppt/notesSlides/notesSlide7.xml" Id="R427c3ffce339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33feb58964e2e" /><Relationship Type="http://schemas.openxmlformats.org/officeDocument/2006/relationships/notesSlide" Target="/ppt/notesSlides/notesSlide8.xml" Id="R69735020fcbc46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ff60d35854fa7" /><Relationship Type="http://schemas.openxmlformats.org/officeDocument/2006/relationships/notesSlide" Target="/ppt/notesSlides/notesSlide9.xml" Id="R3b1d0971b44b4f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0399ebced479c" /><Relationship Type="http://schemas.openxmlformats.org/officeDocument/2006/relationships/notesSlide" Target="/ppt/notesSlides/notesSlide10.xml" Id="R22d24b53790c44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0aa850dd247c2" /><Relationship Type="http://schemas.openxmlformats.org/officeDocument/2006/relationships/notesSlide" Target="/ppt/notesSlides/notesSlide11.xml" Id="R864c3f5d26a549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d0738e969447c" /><Relationship Type="http://schemas.openxmlformats.org/officeDocument/2006/relationships/notesSlide" Target="/ppt/notesSlides/notesSlide12.xml" Id="Rd3da1f6a1aea4433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000" name="deco-orb-1"/>
          <p:cNvSpPr/>
          <p:nvPr/>
        </p:nvSpPr>
        <p:spPr>
          <a:xfrm xmlns:a="http://schemas.openxmlformats.org/drawingml/2006/main">
            <a:off x="9360000" y="360000"/>
            <a:ext cx="3600000" cy="36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8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deco-orb-2"/>
          <p:cNvSpPr/>
          <p:nvPr/>
        </p:nvSpPr>
        <p:spPr>
          <a:xfrm xmlns:a="http://schemas.openxmlformats.org/drawingml/2006/main">
            <a:off x="-720000" y="4320000"/>
            <a:ext cx="2880000" cy="28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2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op-line"/>
          <p:cNvSpPr/>
          <p:nvPr/>
        </p:nvSpPr>
        <p:spPr>
          <a:xfrm xmlns:a="http://schemas.openxmlformats.org/drawingml/2006/main">
            <a:off x="792000" y="1512000"/>
            <a:ext cx="144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badge"/>
          <p:cNvSpPr txBox="1"/>
          <p:nvPr/>
        </p:nvSpPr>
        <p:spPr>
          <a:xfrm xmlns:a="http://schemas.openxmlformats.org/drawingml/2006/main">
            <a:off x="792000" y="115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563EB"/>
                </a:solidFill>
                <a:latin typeface="Segoe UI"/>
                <a:ea typeface="Segoe UI"/>
              </a:rPr>
              <a:t>TECHNICAL METHODOLOGY</a:t>
            </a:r>
          </a:p>
        </p:txBody>
      </p:sp>
      <p:sp>
        <p:nvSpPr>
          <p:cNvPr id="100004" name="title"/>
          <p:cNvSpPr txBox="1"/>
          <p:nvPr/>
        </p:nvSpPr>
        <p:spPr>
          <a:xfrm xmlns:a="http://schemas.openxmlformats.org/drawingml/2006/main">
            <a:off x="792000" y="1656000"/>
            <a:ext cx="100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5400" b="1">
                <a:solidFill>
                  <a:srgbClr val="FAFAFA"/>
                </a:solidFill>
                <a:latin typeface="Segoe UI"/>
                <a:ea typeface="Segoe UI"/>
              </a:rPr>
              <a:t>Fracture</a:t>
            </a:r>
          </a:p>
        </p:txBody>
      </p:sp>
      <p:sp>
        <p:nvSpPr>
          <p:cNvPr id="100005" name="subtitle"/>
          <p:cNvSpPr txBox="1"/>
          <p:nvPr/>
        </p:nvSpPr>
        <p:spPr>
          <a:xfrm xmlns:a="http://schemas.openxmlformats.org/drawingml/2006/main">
            <a:off x="792000" y="2376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>
                <a:solidFill>
                  <a:srgbClr val="A1A1AA"/>
                </a:solidFill>
                <a:latin typeface="Segoe UI"/>
                <a:ea typeface="Segoe UI"/>
              </a:rPr>
              <a:t>AI-Powered Scene Detection &amp; Clustering Pipeline</a:t>
            </a:r>
          </a:p>
        </p:txBody>
      </p:sp>
      <p:sp>
        <p:nvSpPr>
          <p:cNvPr id="100006" name="tagline"/>
          <p:cNvSpPr txBox="1"/>
          <p:nvPr/>
        </p:nvSpPr>
        <p:spPr>
          <a:xfrm xmlns:a="http://schemas.openxmlformats.org/drawingml/2006/main">
            <a:off x="792000" y="2952000"/>
            <a:ext cx="100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Local · Offline · Lossless  |  Python · PyQt6 · CLIP · FFmpeg</a:t>
            </a:r>
          </a:p>
        </p:txBody>
      </p:sp>
      <p:sp>
        <p:nvSpPr>
          <p:cNvPr id="100007" name="pill-0"/>
          <p:cNvSpPr/>
          <p:nvPr/>
        </p:nvSpPr>
        <p:spPr>
          <a:xfrm xmlns:a="http://schemas.openxmlformats.org/drawingml/2006/main">
            <a:off x="792000" y="3672000"/>
            <a:ext cx="1872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3B82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pill-t-0"/>
          <p:cNvSpPr txBox="1"/>
          <p:nvPr/>
        </p:nvSpPr>
        <p:spPr>
          <a:xfrm xmlns:a="http://schemas.openxmlformats.org/drawingml/2006/main">
            <a:off x="792000" y="3726000"/>
            <a:ext cx="1872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3B82F6"/>
                </a:solidFill>
                <a:latin typeface="Segoe UI"/>
                <a:ea typeface="Segoe UI"/>
              </a:rPr>
              <a:t>Keyframe Extract</a:t>
            </a:r>
          </a:p>
        </p:txBody>
      </p:sp>
      <p:sp>
        <p:nvSpPr>
          <p:cNvPr id="100009" name="pill-1"/>
          <p:cNvSpPr/>
          <p:nvPr/>
        </p:nvSpPr>
        <p:spPr>
          <a:xfrm xmlns:a="http://schemas.openxmlformats.org/drawingml/2006/main">
            <a:off x="2808000" y="3672000"/>
            <a:ext cx="1872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pill-t-1"/>
          <p:cNvSpPr txBox="1"/>
          <p:nvPr/>
        </p:nvSpPr>
        <p:spPr>
          <a:xfrm xmlns:a="http://schemas.openxmlformats.org/drawingml/2006/main">
            <a:off x="2808000" y="3726000"/>
            <a:ext cx="1872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8B5CF6"/>
                </a:solidFill>
                <a:latin typeface="Segoe UI"/>
                <a:ea typeface="Segoe UI"/>
              </a:rPr>
              <a:t>CLIP Embeddings</a:t>
            </a:r>
          </a:p>
        </p:txBody>
      </p:sp>
      <p:sp>
        <p:nvSpPr>
          <p:cNvPr id="100011" name="pill-2"/>
          <p:cNvSpPr/>
          <p:nvPr/>
        </p:nvSpPr>
        <p:spPr>
          <a:xfrm xmlns:a="http://schemas.openxmlformats.org/drawingml/2006/main">
            <a:off x="4824000" y="3672000"/>
            <a:ext cx="1872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22C55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pill-t-2"/>
          <p:cNvSpPr txBox="1"/>
          <p:nvPr/>
        </p:nvSpPr>
        <p:spPr>
          <a:xfrm xmlns:a="http://schemas.openxmlformats.org/drawingml/2006/main">
            <a:off x="4824000" y="3726000"/>
            <a:ext cx="1872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22C55E"/>
                </a:solidFill>
                <a:latin typeface="Segoe UI"/>
                <a:ea typeface="Segoe UI"/>
              </a:rPr>
              <a:t>DBSCAN Clusters</a:t>
            </a:r>
          </a:p>
        </p:txBody>
      </p:sp>
      <p:sp>
        <p:nvSpPr>
          <p:cNvPr id="100013" name="pill-3"/>
          <p:cNvSpPr/>
          <p:nvPr/>
        </p:nvSpPr>
        <p:spPr>
          <a:xfrm xmlns:a="http://schemas.openxmlformats.org/drawingml/2006/main">
            <a:off x="6840000" y="3672000"/>
            <a:ext cx="1872000" cy="3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pill-t-3"/>
          <p:cNvSpPr txBox="1"/>
          <p:nvPr/>
        </p:nvSpPr>
        <p:spPr>
          <a:xfrm xmlns:a="http://schemas.openxmlformats.org/drawingml/2006/main">
            <a:off x="6840000" y="3726000"/>
            <a:ext cx="1872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59E0B"/>
                </a:solidFill>
                <a:latin typeface="Segoe UI"/>
                <a:ea typeface="Segoe UI"/>
              </a:rPr>
              <a:t>Lossless Export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015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sec"/>
          <p:cNvSpPr txBox="1"/>
          <p:nvPr/>
        </p:nvSpPr>
        <p:spPr>
          <a:xfrm xmlns:a="http://schemas.openxmlformats.org/drawingml/2006/main">
            <a:off x="648000" y="360000"/>
            <a:ext cx="36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563EB"/>
                </a:solidFill>
                <a:latin typeface="Segoe UI"/>
                <a:ea typeface="Segoe UI"/>
              </a:rPr>
              <a:t>01  PROBLEM</a:t>
            </a:r>
          </a:p>
        </p:txBody>
      </p:sp>
      <p:sp>
        <p:nvSpPr>
          <p:cNvPr id="100017" name="title"/>
          <p:cNvSpPr txBox="1"/>
          <p:nvPr/>
        </p:nvSpPr>
        <p:spPr>
          <a:xfrm xmlns:a="http://schemas.openxmlformats.org/drawingml/2006/main">
            <a:off x="648000" y="576000"/>
            <a:ext cx="100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200" b="1">
                <a:solidFill>
                  <a:srgbClr val="FAFAFA"/>
                </a:solidFill>
                <a:latin typeface="Segoe UI"/>
                <a:ea typeface="Segoe UI"/>
              </a:rPr>
              <a:t>Why automate scene splitting?</a:t>
            </a:r>
          </a:p>
        </p:txBody>
      </p:sp>
      <p:sp>
        <p:nvSpPr>
          <p:cNvPr id="100018" name="c0"/>
          <p:cNvSpPr/>
          <p:nvPr/>
        </p:nvSpPr>
        <p:spPr>
          <a:xfrm xmlns:a="http://schemas.openxmlformats.org/drawingml/2006/main">
            <a:off x="648000" y="1224000"/>
            <a:ext cx="3312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ca0"/>
          <p:cNvSpPr/>
          <p:nvPr/>
        </p:nvSpPr>
        <p:spPr>
          <a:xfrm xmlns:a="http://schemas.openxmlformats.org/drawingml/2006/main">
            <a:off x="648000" y="1224000"/>
            <a:ext cx="3312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ct0"/>
          <p:cNvSpPr txBox="1"/>
          <p:nvPr/>
        </p:nvSpPr>
        <p:spPr>
          <a:xfrm xmlns:a="http://schemas.openxmlformats.org/drawingml/2006/main">
            <a:off x="792000" y="1368000"/>
            <a:ext cx="30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Manual Editing Friction</a:t>
            </a:r>
          </a:p>
        </p:txBody>
      </p:sp>
      <p:sp>
        <p:nvSpPr>
          <p:cNvPr id="100021" name="cb0"/>
          <p:cNvSpPr txBox="1"/>
          <p:nvPr/>
        </p:nvSpPr>
        <p:spPr>
          <a:xfrm xmlns:a="http://schemas.openxmlformats.org/drawingml/2006/main">
            <a:off x="792000" y="1692000"/>
            <a:ext cx="3024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Editors scrub large files frame-by-frame to find cut points. Dense I-frame structure and long runtimes make this slow, error-prone, and hard to scale.</a:t>
            </a:r>
          </a:p>
        </p:txBody>
      </p:sp>
      <p:sp>
        <p:nvSpPr>
          <p:cNvPr id="100022" name="c1"/>
          <p:cNvSpPr/>
          <p:nvPr/>
        </p:nvSpPr>
        <p:spPr>
          <a:xfrm xmlns:a="http://schemas.openxmlformats.org/drawingml/2006/main">
            <a:off x="4176000" y="1224000"/>
            <a:ext cx="3312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ca1"/>
          <p:cNvSpPr/>
          <p:nvPr/>
        </p:nvSpPr>
        <p:spPr>
          <a:xfrm xmlns:a="http://schemas.openxmlformats.org/drawingml/2006/main">
            <a:off x="4176000" y="1224000"/>
            <a:ext cx="3312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ct1"/>
          <p:cNvSpPr txBox="1"/>
          <p:nvPr/>
        </p:nvSpPr>
        <p:spPr>
          <a:xfrm xmlns:a="http://schemas.openxmlformats.org/drawingml/2006/main">
            <a:off x="4320000" y="1368000"/>
            <a:ext cx="30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Naive CV Approaches</a:t>
            </a:r>
          </a:p>
        </p:txBody>
      </p:sp>
      <p:sp>
        <p:nvSpPr>
          <p:cNvPr id="100025" name="cb1"/>
          <p:cNvSpPr txBox="1"/>
          <p:nvPr/>
        </p:nvSpPr>
        <p:spPr>
          <a:xfrm xmlns:a="http://schemas.openxmlformats.org/drawingml/2006/main">
            <a:off x="4320000" y="1692000"/>
            <a:ext cx="3024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Pixel-diff detectors re-decode every frame, struggle with gradual transitions, and lack semantic understanding of similar shots.</a:t>
            </a:r>
          </a:p>
        </p:txBody>
      </p:sp>
      <p:sp>
        <p:nvSpPr>
          <p:cNvPr id="100026" name="c2"/>
          <p:cNvSpPr/>
          <p:nvPr/>
        </p:nvSpPr>
        <p:spPr>
          <a:xfrm xmlns:a="http://schemas.openxmlformats.org/drawingml/2006/main">
            <a:off x="7704000" y="1224000"/>
            <a:ext cx="3312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ca2"/>
          <p:cNvSpPr/>
          <p:nvPr/>
        </p:nvSpPr>
        <p:spPr>
          <a:xfrm xmlns:a="http://schemas.openxmlformats.org/drawingml/2006/main">
            <a:off x="7704000" y="1224000"/>
            <a:ext cx="3312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ct2"/>
          <p:cNvSpPr txBox="1"/>
          <p:nvPr/>
        </p:nvSpPr>
        <p:spPr>
          <a:xfrm xmlns:a="http://schemas.openxmlformats.org/drawingml/2006/main">
            <a:off x="7848000" y="1368000"/>
            <a:ext cx="30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Fracture Goal</a:t>
            </a:r>
          </a:p>
        </p:txBody>
      </p:sp>
      <p:sp>
        <p:nvSpPr>
          <p:cNvPr id="100029" name="cb2"/>
          <p:cNvSpPr txBox="1"/>
          <p:nvPr/>
        </p:nvSpPr>
        <p:spPr>
          <a:xfrm xmlns:a="http://schemas.openxmlformats.org/drawingml/2006/main">
            <a:off x="7848000" y="1692000"/>
            <a:ext cx="3024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Near-instant keyframe extraction, semantic grouping of related scenes, interactive curation, and quality-preserving export — all offline.</a:t>
            </a:r>
          </a:p>
        </p:txBody>
      </p:sp>
      <p:sp>
        <p:nvSpPr>
          <p:cNvPr id="100030" name="foot"/>
          <p:cNvSpPr txBox="1"/>
          <p:nvPr/>
        </p:nvSpPr>
        <p:spPr>
          <a:xfrm xmlns:a="http://schemas.openxmlformats.org/drawingml/2006/main">
            <a:off x="648000" y="3528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Design constraint: zero cloud dependency · no re-encode tax on export · tunable clustering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031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sec"/>
          <p:cNvSpPr txBox="1"/>
          <p:nvPr/>
        </p:nvSpPr>
        <p:spPr>
          <a:xfrm xmlns:a="http://schemas.openxmlformats.org/drawingml/2006/main">
            <a:off x="648000" y="324000"/>
            <a:ext cx="36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563EB"/>
                </a:solidFill>
                <a:latin typeface="Segoe UI"/>
                <a:ea typeface="Segoe UI"/>
              </a:rPr>
              <a:t>02  PIPELINE</a:t>
            </a:r>
          </a:p>
        </p:txBody>
      </p:sp>
      <p:sp>
        <p:nvSpPr>
          <p:cNvPr id="100033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FAFAFA"/>
                </a:solidFill>
                <a:latin typeface="Segoe UI"/>
                <a:ea typeface="Segoe UI"/>
              </a:rPr>
              <a:t>End-to-end methodology</a:t>
            </a:r>
          </a:p>
        </p:txBody>
      </p:sp>
      <p:sp>
        <p:nvSpPr>
          <p:cNvPr id="100034" name="sub"/>
          <p:cNvSpPr txBox="1"/>
          <p:nvPr/>
        </p:nvSpPr>
        <p:spPr>
          <a:xfrm xmlns:a="http://schemas.openxmlformats.org/drawingml/2006/main">
            <a:off x="648000" y="864000"/>
            <a:ext cx="100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Five stages from raw video to curated master</a:t>
            </a:r>
          </a:p>
        </p:txBody>
      </p:sp>
      <p:sp>
        <p:nvSpPr>
          <p:cNvPr id="100035" name="stc0"/>
          <p:cNvSpPr/>
          <p:nvPr/>
        </p:nvSpPr>
        <p:spPr>
          <a:xfrm xmlns:a="http://schemas.openxmlformats.org/drawingml/2006/main">
            <a:off x="576000" y="1296000"/>
            <a:ext cx="1944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6" name="stn0"/>
          <p:cNvSpPr/>
          <p:nvPr/>
        </p:nvSpPr>
        <p:spPr>
          <a:xfrm xmlns:a="http://schemas.openxmlformats.org/drawingml/2006/main">
            <a:off x="1242000" y="1440000"/>
            <a:ext cx="612000" cy="61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stnum0"/>
          <p:cNvSpPr txBox="1"/>
          <p:nvPr/>
        </p:nvSpPr>
        <p:spPr>
          <a:xfrm xmlns:a="http://schemas.openxmlformats.org/drawingml/2006/main">
            <a:off x="1242000" y="1548000"/>
            <a:ext cx="61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AFAFA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100038" name="stt0"/>
          <p:cNvSpPr txBox="1"/>
          <p:nvPr/>
        </p:nvSpPr>
        <p:spPr>
          <a:xfrm xmlns:a="http://schemas.openxmlformats.org/drawingml/2006/main">
            <a:off x="576000" y="2160000"/>
            <a:ext cx="194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Detect</a:t>
            </a:r>
          </a:p>
        </p:txBody>
      </p:sp>
      <p:sp>
        <p:nvSpPr>
          <p:cNvPr id="100039" name="std0"/>
          <p:cNvSpPr txBox="1"/>
          <p:nvPr/>
        </p:nvSpPr>
        <p:spPr>
          <a:xfrm xmlns:a="http://schemas.openxmlformats.org/drawingml/2006/main">
            <a:off x="576000" y="2448000"/>
            <a:ext cx="1944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I-frame pts via ffprobe</a:t>
            </a:r>
          </a:p>
        </p:txBody>
      </p:sp>
      <p:sp>
        <p:nvSpPr>
          <p:cNvPr id="100040" name="stc1"/>
          <p:cNvSpPr/>
          <p:nvPr/>
        </p:nvSpPr>
        <p:spPr>
          <a:xfrm xmlns:a="http://schemas.openxmlformats.org/drawingml/2006/main">
            <a:off x="2736000" y="1296000"/>
            <a:ext cx="1944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1" name="stn1"/>
          <p:cNvSpPr/>
          <p:nvPr/>
        </p:nvSpPr>
        <p:spPr>
          <a:xfrm xmlns:a="http://schemas.openxmlformats.org/drawingml/2006/main">
            <a:off x="3402000" y="1440000"/>
            <a:ext cx="612000" cy="61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stnum1"/>
          <p:cNvSpPr txBox="1"/>
          <p:nvPr/>
        </p:nvSpPr>
        <p:spPr>
          <a:xfrm xmlns:a="http://schemas.openxmlformats.org/drawingml/2006/main">
            <a:off x="3402000" y="1548000"/>
            <a:ext cx="61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AFAFA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100043" name="stt1"/>
          <p:cNvSpPr txBox="1"/>
          <p:nvPr/>
        </p:nvSpPr>
        <p:spPr>
          <a:xfrm xmlns:a="http://schemas.openxmlformats.org/drawingml/2006/main">
            <a:off x="2736000" y="2160000"/>
            <a:ext cx="194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Extract</a:t>
            </a:r>
          </a:p>
        </p:txBody>
      </p:sp>
      <p:sp>
        <p:nvSpPr>
          <p:cNvPr id="100044" name="std1"/>
          <p:cNvSpPr txBox="1"/>
          <p:nvPr/>
        </p:nvSpPr>
        <p:spPr>
          <a:xfrm xmlns:a="http://schemas.openxmlformats.org/drawingml/2006/main">
            <a:off x="2736000" y="2448000"/>
            <a:ext cx="1944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Mid-scene JPEG thumbs</a:t>
            </a:r>
          </a:p>
        </p:txBody>
      </p:sp>
      <p:sp>
        <p:nvSpPr>
          <p:cNvPr id="100045" name="stc2"/>
          <p:cNvSpPr/>
          <p:nvPr/>
        </p:nvSpPr>
        <p:spPr>
          <a:xfrm xmlns:a="http://schemas.openxmlformats.org/drawingml/2006/main">
            <a:off x="4896000" y="1296000"/>
            <a:ext cx="1944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stn2"/>
          <p:cNvSpPr/>
          <p:nvPr/>
        </p:nvSpPr>
        <p:spPr>
          <a:xfrm xmlns:a="http://schemas.openxmlformats.org/drawingml/2006/main">
            <a:off x="5562000" y="1440000"/>
            <a:ext cx="612000" cy="61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7" name="stnum2"/>
          <p:cNvSpPr txBox="1"/>
          <p:nvPr/>
        </p:nvSpPr>
        <p:spPr>
          <a:xfrm xmlns:a="http://schemas.openxmlformats.org/drawingml/2006/main">
            <a:off x="5562000" y="1548000"/>
            <a:ext cx="61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AFAFA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100048" name="stt2"/>
          <p:cNvSpPr txBox="1"/>
          <p:nvPr/>
        </p:nvSpPr>
        <p:spPr>
          <a:xfrm xmlns:a="http://schemas.openxmlformats.org/drawingml/2006/main">
            <a:off x="4896000" y="2160000"/>
            <a:ext cx="194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Embed</a:t>
            </a:r>
          </a:p>
        </p:txBody>
      </p:sp>
      <p:sp>
        <p:nvSpPr>
          <p:cNvPr id="100049" name="std2"/>
          <p:cNvSpPr txBox="1"/>
          <p:nvPr/>
        </p:nvSpPr>
        <p:spPr>
          <a:xfrm xmlns:a="http://schemas.openxmlformats.org/drawingml/2006/main">
            <a:off x="4896000" y="2448000"/>
            <a:ext cx="1944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CLIP ViT-B/32 vectors</a:t>
            </a:r>
          </a:p>
        </p:txBody>
      </p:sp>
      <p:sp>
        <p:nvSpPr>
          <p:cNvPr id="100050" name="stc3"/>
          <p:cNvSpPr/>
          <p:nvPr/>
        </p:nvSpPr>
        <p:spPr>
          <a:xfrm xmlns:a="http://schemas.openxmlformats.org/drawingml/2006/main">
            <a:off x="7056000" y="1296000"/>
            <a:ext cx="1944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1" name="stn3"/>
          <p:cNvSpPr/>
          <p:nvPr/>
        </p:nvSpPr>
        <p:spPr>
          <a:xfrm xmlns:a="http://schemas.openxmlformats.org/drawingml/2006/main">
            <a:off x="7722000" y="1440000"/>
            <a:ext cx="612000" cy="61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stnum3"/>
          <p:cNvSpPr txBox="1"/>
          <p:nvPr/>
        </p:nvSpPr>
        <p:spPr>
          <a:xfrm xmlns:a="http://schemas.openxmlformats.org/drawingml/2006/main">
            <a:off x="7722000" y="1548000"/>
            <a:ext cx="61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AFAFA"/>
                </a:solidFill>
                <a:latin typeface="Segoe UI"/>
                <a:ea typeface="Segoe UI"/>
              </a:rPr>
              <a:t>4</a:t>
            </a:r>
          </a:p>
        </p:txBody>
      </p:sp>
      <p:sp>
        <p:nvSpPr>
          <p:cNvPr id="100053" name="stt3"/>
          <p:cNvSpPr txBox="1"/>
          <p:nvPr/>
        </p:nvSpPr>
        <p:spPr>
          <a:xfrm xmlns:a="http://schemas.openxmlformats.org/drawingml/2006/main">
            <a:off x="7056000" y="2160000"/>
            <a:ext cx="194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Cluster</a:t>
            </a:r>
          </a:p>
        </p:txBody>
      </p:sp>
      <p:sp>
        <p:nvSpPr>
          <p:cNvPr id="100054" name="std3"/>
          <p:cNvSpPr txBox="1"/>
          <p:nvPr/>
        </p:nvSpPr>
        <p:spPr>
          <a:xfrm xmlns:a="http://schemas.openxmlformats.org/drawingml/2006/main">
            <a:off x="7056000" y="2448000"/>
            <a:ext cx="1944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DBSCAN on embeddings</a:t>
            </a:r>
          </a:p>
        </p:txBody>
      </p:sp>
      <p:sp>
        <p:nvSpPr>
          <p:cNvPr id="100055" name="stc4"/>
          <p:cNvSpPr/>
          <p:nvPr/>
        </p:nvSpPr>
        <p:spPr>
          <a:xfrm xmlns:a="http://schemas.openxmlformats.org/drawingml/2006/main">
            <a:off x="9216000" y="1296000"/>
            <a:ext cx="1944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stn4"/>
          <p:cNvSpPr/>
          <p:nvPr/>
        </p:nvSpPr>
        <p:spPr>
          <a:xfrm xmlns:a="http://schemas.openxmlformats.org/drawingml/2006/main">
            <a:off x="9882000" y="1440000"/>
            <a:ext cx="612000" cy="61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7" name="stnum4"/>
          <p:cNvSpPr txBox="1"/>
          <p:nvPr/>
        </p:nvSpPr>
        <p:spPr>
          <a:xfrm xmlns:a="http://schemas.openxmlformats.org/drawingml/2006/main">
            <a:off x="9882000" y="1548000"/>
            <a:ext cx="61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AFAFA"/>
                </a:solidFill>
                <a:latin typeface="Segoe UI"/>
                <a:ea typeface="Segoe UI"/>
              </a:rPr>
              <a:t>5</a:t>
            </a:r>
          </a:p>
        </p:txBody>
      </p:sp>
      <p:sp>
        <p:nvSpPr>
          <p:cNvPr id="100058" name="stt4"/>
          <p:cNvSpPr txBox="1"/>
          <p:nvPr/>
        </p:nvSpPr>
        <p:spPr>
          <a:xfrm xmlns:a="http://schemas.openxmlformats.org/drawingml/2006/main">
            <a:off x="9216000" y="2160000"/>
            <a:ext cx="194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Export</a:t>
            </a:r>
          </a:p>
        </p:txBody>
      </p:sp>
      <p:sp>
        <p:nvSpPr>
          <p:cNvPr id="100059" name="std4"/>
          <p:cNvSpPr txBox="1"/>
          <p:nvPr/>
        </p:nvSpPr>
        <p:spPr>
          <a:xfrm xmlns:a="http://schemas.openxmlformats.org/drawingml/2006/main">
            <a:off x="9216000" y="2448000"/>
            <a:ext cx="1944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FFmpeg concat copy</a:t>
            </a:r>
          </a:p>
        </p:txBody>
      </p:sp>
      <p:sp>
        <p:nvSpPr>
          <p:cNvPr id="100060" name="arr0"/>
          <p:cNvSpPr txBox="1"/>
          <p:nvPr/>
        </p:nvSpPr>
        <p:spPr>
          <a:xfrm xmlns:a="http://schemas.openxmlformats.org/drawingml/2006/main">
            <a:off x="2430000" y="2088000"/>
            <a:ext cx="216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7272A"/>
                </a:solidFill>
                <a:latin typeface="Segoe UI"/>
                <a:ea typeface="Segoe UI"/>
              </a:rPr>
              <a:t>&gt;</a:t>
            </a:r>
          </a:p>
        </p:txBody>
      </p:sp>
      <p:sp>
        <p:nvSpPr>
          <p:cNvPr id="100061" name="arr1"/>
          <p:cNvSpPr txBox="1"/>
          <p:nvPr/>
        </p:nvSpPr>
        <p:spPr>
          <a:xfrm xmlns:a="http://schemas.openxmlformats.org/drawingml/2006/main">
            <a:off x="4590000" y="2088000"/>
            <a:ext cx="216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7272A"/>
                </a:solidFill>
                <a:latin typeface="Segoe UI"/>
                <a:ea typeface="Segoe UI"/>
              </a:rPr>
              <a:t>&gt;</a:t>
            </a:r>
          </a:p>
        </p:txBody>
      </p:sp>
      <p:sp>
        <p:nvSpPr>
          <p:cNvPr id="100062" name="arr2"/>
          <p:cNvSpPr txBox="1"/>
          <p:nvPr/>
        </p:nvSpPr>
        <p:spPr>
          <a:xfrm xmlns:a="http://schemas.openxmlformats.org/drawingml/2006/main">
            <a:off x="6750000" y="2088000"/>
            <a:ext cx="216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7272A"/>
                </a:solidFill>
                <a:latin typeface="Segoe UI"/>
                <a:ea typeface="Segoe UI"/>
              </a:rPr>
              <a:t>&gt;</a:t>
            </a:r>
          </a:p>
        </p:txBody>
      </p:sp>
      <p:sp>
        <p:nvSpPr>
          <p:cNvPr id="100063" name="arr3"/>
          <p:cNvSpPr txBox="1"/>
          <p:nvPr/>
        </p:nvSpPr>
        <p:spPr>
          <a:xfrm xmlns:a="http://schemas.openxmlformats.org/drawingml/2006/main">
            <a:off x="8910000" y="2088000"/>
            <a:ext cx="216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7272A"/>
                </a:solidFill>
                <a:latin typeface="Segoe UI"/>
                <a:ea typeface="Segoe UI"/>
              </a:rPr>
              <a:t>&gt;</a:t>
            </a:r>
          </a:p>
        </p:txBody>
      </p:sp>
      <p:sp>
        <p:nvSpPr>
          <p:cNvPr id="100064" name="mods"/>
          <p:cNvSpPr txBox="1"/>
          <p:nvPr/>
        </p:nvSpPr>
        <p:spPr>
          <a:xfrm xmlns:a="http://schemas.openxmlformats.org/drawingml/2006/main">
            <a:off x="648000" y="3744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Modules:  video_processor.py  →  ml_engine.py  →  ui_components.py  →  exporter.py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065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sec"/>
          <p:cNvSpPr txBox="1"/>
          <p:nvPr/>
        </p:nvSpPr>
        <p:spPr>
          <a:xfrm xmlns:a="http://schemas.openxmlformats.org/drawingml/2006/main">
            <a:off x="648000" y="32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06B6D4"/>
                </a:solidFill>
                <a:latin typeface="Segoe UI"/>
                <a:ea typeface="Segoe UI"/>
              </a:rPr>
              <a:t>03  SCENE DETECTION</a:t>
            </a:r>
          </a:p>
        </p:txBody>
      </p:sp>
      <p:sp>
        <p:nvSpPr>
          <p:cNvPr id="100067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AFAFA"/>
                </a:solidFill>
                <a:latin typeface="Segoe UI"/>
                <a:ea typeface="Segoe UI"/>
              </a:rPr>
              <a:t>I-frame based cut points</a:t>
            </a:r>
          </a:p>
        </p:txBody>
      </p:sp>
      <p:sp>
        <p:nvSpPr>
          <p:cNvPr id="100068" name="left"/>
          <p:cNvSpPr/>
          <p:nvPr/>
        </p:nvSpPr>
        <p:spPr>
          <a:xfrm xmlns:a="http://schemas.openxmlformats.org/drawingml/2006/main">
            <a:off x="648000" y="1008000"/>
            <a:ext cx="5400000" cy="28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9" name="lt"/>
          <p:cNvSpPr txBox="1"/>
          <p:nvPr/>
        </p:nvSpPr>
        <p:spPr>
          <a:xfrm xmlns:a="http://schemas.openxmlformats.org/drawingml/2006/main">
            <a:off x="828000" y="1152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How it works</a:t>
            </a:r>
          </a:p>
        </p:txBody>
      </p:sp>
      <p:sp>
        <p:nvSpPr>
          <p:cNvPr id="100070" name="lb0"/>
          <p:cNvSpPr txBox="1"/>
          <p:nvPr/>
        </p:nvSpPr>
        <p:spPr>
          <a:xfrm xmlns:a="http://schemas.openxmlformats.org/drawingml/2006/main">
            <a:off x="828000" y="1476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1.  Run ffprobe on video stream packets</a:t>
            </a:r>
          </a:p>
        </p:txBody>
      </p:sp>
      <p:sp>
        <p:nvSpPr>
          <p:cNvPr id="100071" name="lb1"/>
          <p:cNvSpPr txBox="1"/>
          <p:nvPr/>
        </p:nvSpPr>
        <p:spPr>
          <a:xfrm xmlns:a="http://schemas.openxmlformats.org/drawingml/2006/main">
            <a:off x="828000" y="167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2.  Select packets with keyframe flag (K)</a:t>
            </a:r>
          </a:p>
        </p:txBody>
      </p:sp>
      <p:sp>
        <p:nvSpPr>
          <p:cNvPr id="100072" name="lb2"/>
          <p:cNvSpPr txBox="1"/>
          <p:nvPr/>
        </p:nvSpPr>
        <p:spPr>
          <a:xfrm xmlns:a="http://schemas.openxmlformats.org/drawingml/2006/main">
            <a:off x="828000" y="1872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3.  Collect pts_time for each I-frame</a:t>
            </a:r>
          </a:p>
        </p:txBody>
      </p:sp>
      <p:sp>
        <p:nvSpPr>
          <p:cNvPr id="100073" name="lb3"/>
          <p:cNvSpPr txBox="1"/>
          <p:nvPr/>
        </p:nvSpPr>
        <p:spPr>
          <a:xfrm xmlns:a="http://schemas.openxmlformats.org/drawingml/2006/main">
            <a:off x="828000" y="2070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4.  Force 0.0 start + duration end bounds</a:t>
            </a:r>
          </a:p>
        </p:txBody>
      </p:sp>
      <p:sp>
        <p:nvSpPr>
          <p:cNvPr id="100074" name="lb4"/>
          <p:cNvSpPr txBox="1"/>
          <p:nvPr/>
        </p:nvSpPr>
        <p:spPr>
          <a:xfrm xmlns:a="http://schemas.openxmlformats.org/drawingml/2006/main">
            <a:off x="828000" y="2268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5.  Adjacent keyframes define scene [t_i, t_i+1)</a:t>
            </a:r>
          </a:p>
        </p:txBody>
      </p:sp>
      <p:sp>
        <p:nvSpPr>
          <p:cNvPr id="100075" name="lb5"/>
          <p:cNvSpPr txBox="1"/>
          <p:nvPr/>
        </p:nvSpPr>
        <p:spPr>
          <a:xfrm xmlns:a="http://schemas.openxmlformats.org/drawingml/2006/main">
            <a:off x="828000" y="2466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6.  Drop micro-scenes with duration &lt; 0.1s</a:t>
            </a:r>
          </a:p>
        </p:txBody>
      </p:sp>
      <p:sp>
        <p:nvSpPr>
          <p:cNvPr id="100076" name="why"/>
          <p:cNvSpPr txBox="1"/>
          <p:nvPr/>
        </p:nvSpPr>
        <p:spPr>
          <a:xfrm xmlns:a="http://schemas.openxmlformats.org/drawingml/2006/main">
            <a:off x="828000" y="2880000"/>
            <a:ext cx="50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Why I-frames? Encoders place them at natural cut boundaries. Reading packet flags avoids full decode — much faster than frame-diff CV.</a:t>
            </a:r>
          </a:p>
        </p:txBody>
      </p:sp>
      <p:sp>
        <p:nvSpPr>
          <p:cNvPr id="100077" name="right"/>
          <p:cNvSpPr/>
          <p:nvPr/>
        </p:nvSpPr>
        <p:spPr>
          <a:xfrm xmlns:a="http://schemas.openxmlformats.org/drawingml/2006/main">
            <a:off x="6264000" y="1008000"/>
            <a:ext cx="4752000" cy="28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rt"/>
          <p:cNvSpPr txBox="1"/>
          <p:nvPr/>
        </p:nvSpPr>
        <p:spPr>
          <a:xfrm xmlns:a="http://schemas.openxmlformats.org/drawingml/2006/main">
            <a:off x="6444000" y="1152000"/>
            <a:ext cx="43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Tooling</a:t>
            </a:r>
          </a:p>
        </p:txBody>
      </p:sp>
      <p:sp>
        <p:nvSpPr>
          <p:cNvPr id="100079" name="r0"/>
          <p:cNvSpPr/>
          <p:nvPr/>
        </p:nvSpPr>
        <p:spPr>
          <a:xfrm xmlns:a="http://schemas.openxmlformats.org/drawingml/2006/main">
            <a:off x="6444000" y="1476000"/>
            <a:ext cx="4392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06B6D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r0t"/>
          <p:cNvSpPr txBox="1"/>
          <p:nvPr/>
        </p:nvSpPr>
        <p:spPr>
          <a:xfrm xmlns:a="http://schemas.openxmlformats.org/drawingml/2006/main">
            <a:off x="6552000" y="1530000"/>
            <a:ext cx="4176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06B6D4"/>
                </a:solidFill>
                <a:latin typeface="Segoe UI"/>
                <a:ea typeface="Segoe UI"/>
              </a:rPr>
              <a:t>ffprobe  ·  packet pts_time,flags</a:t>
            </a:r>
          </a:p>
        </p:txBody>
      </p:sp>
      <p:sp>
        <p:nvSpPr>
          <p:cNvPr id="100081" name="r0d"/>
          <p:cNvSpPr txBox="1"/>
          <p:nvPr/>
        </p:nvSpPr>
        <p:spPr>
          <a:xfrm xmlns:a="http://schemas.openxmlformats.org/drawingml/2006/main">
            <a:off x="6552000" y="1746000"/>
            <a:ext cx="4176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CSV parse of keyframe timestamps</a:t>
            </a:r>
          </a:p>
        </p:txBody>
      </p:sp>
      <p:sp>
        <p:nvSpPr>
          <p:cNvPr id="100082" name="r1"/>
          <p:cNvSpPr/>
          <p:nvPr/>
        </p:nvSpPr>
        <p:spPr>
          <a:xfrm xmlns:a="http://schemas.openxmlformats.org/drawingml/2006/main">
            <a:off x="6444000" y="2124000"/>
            <a:ext cx="4392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2563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3" name="r1t"/>
          <p:cNvSpPr txBox="1"/>
          <p:nvPr/>
        </p:nvSpPr>
        <p:spPr>
          <a:xfrm xmlns:a="http://schemas.openxmlformats.org/drawingml/2006/main">
            <a:off x="6552000" y="2178000"/>
            <a:ext cx="4176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2563EB"/>
                </a:solidFill>
                <a:latin typeface="Segoe UI"/>
                <a:ea typeface="Segoe UI"/>
              </a:rPr>
              <a:t>ffprobe  ·  format=duration</a:t>
            </a:r>
          </a:p>
        </p:txBody>
      </p:sp>
      <p:sp>
        <p:nvSpPr>
          <p:cNvPr id="100084" name="r1d"/>
          <p:cNvSpPr txBox="1"/>
          <p:nvPr/>
        </p:nvSpPr>
        <p:spPr>
          <a:xfrm xmlns:a="http://schemas.openxmlformats.org/drawingml/2006/main">
            <a:off x="6552000" y="2394000"/>
            <a:ext cx="4176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Total length for end-of-file bound</a:t>
            </a:r>
          </a:p>
        </p:txBody>
      </p:sp>
      <p:sp>
        <p:nvSpPr>
          <p:cNvPr id="100085" name="r2"/>
          <p:cNvSpPr/>
          <p:nvPr/>
        </p:nvSpPr>
        <p:spPr>
          <a:xfrm xmlns:a="http://schemas.openxmlformats.org/drawingml/2006/main">
            <a:off x="6444000" y="2772000"/>
            <a:ext cx="4392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22C55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r2t"/>
          <p:cNvSpPr txBox="1"/>
          <p:nvPr/>
        </p:nvSpPr>
        <p:spPr>
          <a:xfrm xmlns:a="http://schemas.openxmlformats.org/drawingml/2006/main">
            <a:off x="6552000" y="2826000"/>
            <a:ext cx="4176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22C55E"/>
                </a:solidFill>
                <a:latin typeface="Segoe UI"/>
                <a:ea typeface="Segoe UI"/>
              </a:rPr>
              <a:t>video_processor.py</a:t>
            </a:r>
          </a:p>
        </p:txBody>
      </p:sp>
      <p:sp>
        <p:nvSpPr>
          <p:cNvPr id="100087" name="r2d"/>
          <p:cNvSpPr txBox="1"/>
          <p:nvPr/>
        </p:nvSpPr>
        <p:spPr>
          <a:xfrm xmlns:a="http://schemas.openxmlformats.org/drawingml/2006/main">
            <a:off x="6552000" y="3042000"/>
            <a:ext cx="4176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detect_scenes_and_extract_frames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088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9" name="sec"/>
          <p:cNvSpPr txBox="1"/>
          <p:nvPr/>
        </p:nvSpPr>
        <p:spPr>
          <a:xfrm xmlns:a="http://schemas.openxmlformats.org/drawingml/2006/main">
            <a:off x="648000" y="32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563EB"/>
                </a:solidFill>
                <a:latin typeface="Segoe UI"/>
                <a:ea typeface="Segoe UI"/>
              </a:rPr>
              <a:t>04  FRAME EXTRACTION</a:t>
            </a:r>
          </a:p>
        </p:txBody>
      </p:sp>
      <p:sp>
        <p:nvSpPr>
          <p:cNvPr id="100090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AFAFA"/>
                </a:solidFill>
                <a:latin typeface="Segoe UI"/>
                <a:ea typeface="Segoe UI"/>
              </a:rPr>
              <a:t>Representative thumbnails at scale</a:t>
            </a:r>
          </a:p>
        </p:txBody>
      </p:sp>
      <p:sp>
        <p:nvSpPr>
          <p:cNvPr id="100091" name="m0"/>
          <p:cNvSpPr/>
          <p:nvPr/>
        </p:nvSpPr>
        <p:spPr>
          <a:xfrm xmlns:a="http://schemas.openxmlformats.org/drawingml/2006/main">
            <a:off x="648000" y="1044000"/>
            <a:ext cx="3420000" cy="27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2" name="ma0"/>
          <p:cNvSpPr/>
          <p:nvPr/>
        </p:nvSpPr>
        <p:spPr>
          <a:xfrm xmlns:a="http://schemas.openxmlformats.org/drawingml/2006/main">
            <a:off x="648000" y="1044000"/>
            <a:ext cx="34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mt0"/>
          <p:cNvSpPr txBox="1"/>
          <p:nvPr/>
        </p:nvSpPr>
        <p:spPr>
          <a:xfrm xmlns:a="http://schemas.openxmlformats.org/drawingml/2006/main">
            <a:off x="828000" y="1188000"/>
            <a:ext cx="309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Sampling strategy</a:t>
            </a:r>
          </a:p>
        </p:txBody>
      </p:sp>
      <p:sp>
        <p:nvSpPr>
          <p:cNvPr id="100094" name="mb0"/>
          <p:cNvSpPr txBox="1"/>
          <p:nvPr/>
        </p:nvSpPr>
        <p:spPr>
          <a:xfrm xmlns:a="http://schemas.openxmlformats.org/drawingml/2006/main">
            <a:off x="828000" y="1512000"/>
            <a:ext cx="309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For each scene [start, end]: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middle = start + duration / 2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Extract a single JPEG at middle time with ffmpeg -ss -vframes 1 -q:v 2.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One frame per scene is enough for semantic clustering and UI preview.</a:t>
            </a:r>
          </a:p>
        </p:txBody>
      </p:sp>
      <p:sp>
        <p:nvSpPr>
          <p:cNvPr id="100095" name="m1"/>
          <p:cNvSpPr/>
          <p:nvPr/>
        </p:nvSpPr>
        <p:spPr>
          <a:xfrm xmlns:a="http://schemas.openxmlformats.org/drawingml/2006/main">
            <a:off x="4248000" y="1044000"/>
            <a:ext cx="3420000" cy="27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6" name="ma1"/>
          <p:cNvSpPr/>
          <p:nvPr/>
        </p:nvSpPr>
        <p:spPr>
          <a:xfrm xmlns:a="http://schemas.openxmlformats.org/drawingml/2006/main">
            <a:off x="4248000" y="1044000"/>
            <a:ext cx="34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mt1"/>
          <p:cNvSpPr txBox="1"/>
          <p:nvPr/>
        </p:nvSpPr>
        <p:spPr>
          <a:xfrm xmlns:a="http://schemas.openxmlformats.org/drawingml/2006/main">
            <a:off x="4428000" y="1188000"/>
            <a:ext cx="309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Parallelism</a:t>
            </a:r>
          </a:p>
        </p:txBody>
      </p:sp>
      <p:sp>
        <p:nvSpPr>
          <p:cNvPr id="100098" name="mb1"/>
          <p:cNvSpPr txBox="1"/>
          <p:nvPr/>
        </p:nvSpPr>
        <p:spPr>
          <a:xfrm xmlns:a="http://schemas.openxmlformats.org/drawingml/2006/main">
            <a:off x="4428000" y="1512000"/>
            <a:ext cx="309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ThreadPoolExecutor max_workers=8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Semaphore(4) caps concurrent ffmpeg processes to avoid disk/CPU thrash.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Progress callback maps completion to 10-50% of overall analysis bar.</a:t>
            </a:r>
          </a:p>
        </p:txBody>
      </p:sp>
      <p:sp>
        <p:nvSpPr>
          <p:cNvPr id="100099" name="m2"/>
          <p:cNvSpPr/>
          <p:nvPr/>
        </p:nvSpPr>
        <p:spPr>
          <a:xfrm xmlns:a="http://schemas.openxmlformats.org/drawingml/2006/main">
            <a:off x="7848000" y="1044000"/>
            <a:ext cx="3420000" cy="27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ma2"/>
          <p:cNvSpPr/>
          <p:nvPr/>
        </p:nvSpPr>
        <p:spPr>
          <a:xfrm xmlns:a="http://schemas.openxmlformats.org/drawingml/2006/main">
            <a:off x="7848000" y="1044000"/>
            <a:ext cx="34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1" name="mt2"/>
          <p:cNvSpPr txBox="1"/>
          <p:nvPr/>
        </p:nvSpPr>
        <p:spPr>
          <a:xfrm xmlns:a="http://schemas.openxmlformats.org/drawingml/2006/main">
            <a:off x="8028000" y="1188000"/>
            <a:ext cx="309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Artifacts</a:t>
            </a:r>
          </a:p>
        </p:txBody>
      </p:sp>
      <p:sp>
        <p:nvSpPr>
          <p:cNvPr id="100102" name="mb2"/>
          <p:cNvSpPr txBox="1"/>
          <p:nvPr/>
        </p:nvSpPr>
        <p:spPr>
          <a:xfrm xmlns:a="http://schemas.openxmlformats.org/drawingml/2006/main">
            <a:off x="8028000" y="1512000"/>
            <a:ext cx="309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Temp dir: %TEMP%/video_classifier_frames</a:t>
            </a:r>
          </a:p>
          <a:p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Files: scene_XXXX.jpg</a:t>
            </a:r>
          </a:p>
          <a:p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Scene dict: id, start_time, end_time, duration, frame_path</a:t>
            </a:r>
          </a:p>
          <a:p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Windows: hide console flashes via STARTF_USESHOWWINDOW.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103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4" name="sec"/>
          <p:cNvSpPr txBox="1"/>
          <p:nvPr/>
        </p:nvSpPr>
        <p:spPr>
          <a:xfrm xmlns:a="http://schemas.openxmlformats.org/drawingml/2006/main">
            <a:off x="648000" y="324000"/>
            <a:ext cx="57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8B5CF6"/>
                </a:solidFill>
                <a:latin typeface="Segoe UI"/>
                <a:ea typeface="Segoe UI"/>
              </a:rPr>
              <a:t>05  VISUAL EMBEDDINGS</a:t>
            </a:r>
          </a:p>
        </p:txBody>
      </p:sp>
      <p:sp>
        <p:nvSpPr>
          <p:cNvPr id="100105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AFAFA"/>
                </a:solidFill>
                <a:latin typeface="Segoe UI"/>
                <a:ea typeface="Segoe UI"/>
              </a:rPr>
              <a:t>CLIP turns frames into vectors</a:t>
            </a:r>
          </a:p>
        </p:txBody>
      </p:sp>
      <p:sp>
        <p:nvSpPr>
          <p:cNvPr id="100106" name="main"/>
          <p:cNvSpPr/>
          <p:nvPr/>
        </p:nvSpPr>
        <p:spPr>
          <a:xfrm xmlns:a="http://schemas.openxmlformats.org/drawingml/2006/main">
            <a:off x="648000" y="1008000"/>
            <a:ext cx="6660000" cy="28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7" name="mt"/>
          <p:cNvSpPr txBox="1"/>
          <p:nvPr/>
        </p:nvSpPr>
        <p:spPr>
          <a:xfrm xmlns:a="http://schemas.openxmlformats.org/drawingml/2006/main">
            <a:off x="828000" y="1152000"/>
            <a:ext cx="63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Model: sentence-transformers / clip-ViT-B-32</a:t>
            </a:r>
          </a:p>
        </p:txBody>
      </p:sp>
      <p:sp>
        <p:nvSpPr>
          <p:cNvPr id="100108" name="mb"/>
          <p:cNvSpPr txBox="1"/>
          <p:nvPr/>
        </p:nvSpPr>
        <p:spPr>
          <a:xfrm xmlns:a="http://schemas.openxmlformats.org/drawingml/2006/main">
            <a:off x="828000" y="1476000"/>
            <a:ext cx="630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OpenAI CLIP Vision Transformer encodes each scene JPEG into a dense embedding that captures semantic content — not just color histograms.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• Images loaded via PIL, encoded in chunks of 32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• encode batch_size = 8 for GPU/CPU balance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• Embeddings stacked with numpy.vstack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• Global singleton cache: model loads once, reused across imports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• Progress window: ~50% load, ~70% encode</a:t>
            </a:r>
          </a:p>
        </p:txBody>
      </p:sp>
      <p:sp>
        <p:nvSpPr>
          <p:cNvPr id="100109" name="side"/>
          <p:cNvSpPr/>
          <p:nvPr/>
        </p:nvSpPr>
        <p:spPr>
          <a:xfrm xmlns:a="http://schemas.openxmlformats.org/drawingml/2006/main">
            <a:off x="7488000" y="1008000"/>
            <a:ext cx="3780000" cy="28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0" name="st"/>
          <p:cNvSpPr txBox="1"/>
          <p:nvPr/>
        </p:nvSpPr>
        <p:spPr>
          <a:xfrm xmlns:a="http://schemas.openxmlformats.org/drawingml/2006/main">
            <a:off x="7668000" y="1152000"/>
            <a:ext cx="345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Why CLIP?</a:t>
            </a:r>
          </a:p>
        </p:txBody>
      </p:sp>
      <p:sp>
        <p:nvSpPr>
          <p:cNvPr id="100111" name="s0"/>
          <p:cNvSpPr/>
          <p:nvPr/>
        </p:nvSpPr>
        <p:spPr>
          <a:xfrm xmlns:a="http://schemas.openxmlformats.org/drawingml/2006/main">
            <a:off x="7668000" y="1476000"/>
            <a:ext cx="3456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2" name="s0t"/>
          <p:cNvSpPr txBox="1"/>
          <p:nvPr/>
        </p:nvSpPr>
        <p:spPr>
          <a:xfrm xmlns:a="http://schemas.openxmlformats.org/drawingml/2006/main">
            <a:off x="7776000" y="1530000"/>
            <a:ext cx="32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8B5CF6"/>
                </a:solidFill>
                <a:latin typeface="Segoe UI"/>
                <a:ea typeface="Segoe UI"/>
              </a:rPr>
              <a:t>Semantic similarity</a:t>
            </a:r>
          </a:p>
        </p:txBody>
      </p:sp>
      <p:sp>
        <p:nvSpPr>
          <p:cNvPr id="100113" name="s0d"/>
          <p:cNvSpPr txBox="1"/>
          <p:nvPr/>
        </p:nvSpPr>
        <p:spPr>
          <a:xfrm xmlns:a="http://schemas.openxmlformats.org/drawingml/2006/main">
            <a:off x="7776000" y="1746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Same subject, different lighting still clusters</a:t>
            </a:r>
          </a:p>
        </p:txBody>
      </p:sp>
      <p:sp>
        <p:nvSpPr>
          <p:cNvPr id="100114" name="s1"/>
          <p:cNvSpPr/>
          <p:nvPr/>
        </p:nvSpPr>
        <p:spPr>
          <a:xfrm xmlns:a="http://schemas.openxmlformats.org/drawingml/2006/main">
            <a:off x="7668000" y="2196000"/>
            <a:ext cx="3456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2563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5" name="s1t"/>
          <p:cNvSpPr txBox="1"/>
          <p:nvPr/>
        </p:nvSpPr>
        <p:spPr>
          <a:xfrm xmlns:a="http://schemas.openxmlformats.org/drawingml/2006/main">
            <a:off x="7776000" y="2250000"/>
            <a:ext cx="32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2563EB"/>
                </a:solidFill>
                <a:latin typeface="Segoe UI"/>
                <a:ea typeface="Segoe UI"/>
              </a:rPr>
              <a:t>Zero-shot vision</a:t>
            </a:r>
          </a:p>
        </p:txBody>
      </p:sp>
      <p:sp>
        <p:nvSpPr>
          <p:cNvPr id="100116" name="s1d"/>
          <p:cNvSpPr txBox="1"/>
          <p:nvPr/>
        </p:nvSpPr>
        <p:spPr>
          <a:xfrm xmlns:a="http://schemas.openxmlformats.org/drawingml/2006/main">
            <a:off x="7776000" y="2466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No custom labeled scene dataset needed</a:t>
            </a:r>
          </a:p>
        </p:txBody>
      </p:sp>
      <p:sp>
        <p:nvSpPr>
          <p:cNvPr id="100117" name="s2"/>
          <p:cNvSpPr/>
          <p:nvPr/>
        </p:nvSpPr>
        <p:spPr>
          <a:xfrm xmlns:a="http://schemas.openxmlformats.org/drawingml/2006/main">
            <a:off x="7668000" y="2916000"/>
            <a:ext cx="3456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22C55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8" name="s2t"/>
          <p:cNvSpPr txBox="1"/>
          <p:nvPr/>
        </p:nvSpPr>
        <p:spPr>
          <a:xfrm xmlns:a="http://schemas.openxmlformats.org/drawingml/2006/main">
            <a:off x="7776000" y="2970000"/>
            <a:ext cx="32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22C55E"/>
                </a:solidFill>
                <a:latin typeface="Segoe UI"/>
                <a:ea typeface="Segoe UI"/>
              </a:rPr>
              <a:t>Local inference</a:t>
            </a:r>
          </a:p>
        </p:txBody>
      </p:sp>
      <p:sp>
        <p:nvSpPr>
          <p:cNvPr id="100119" name="s2d"/>
          <p:cNvSpPr txBox="1"/>
          <p:nvPr/>
        </p:nvSpPr>
        <p:spPr>
          <a:xfrm xmlns:a="http://schemas.openxmlformats.org/drawingml/2006/main">
            <a:off x="7776000" y="3186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Runs fully offline after first download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120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1" name="sec"/>
          <p:cNvSpPr txBox="1"/>
          <p:nvPr/>
        </p:nvSpPr>
        <p:spPr>
          <a:xfrm xmlns:a="http://schemas.openxmlformats.org/drawingml/2006/main">
            <a:off x="648000" y="324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F59E0B"/>
                </a:solidFill>
                <a:latin typeface="Segoe UI"/>
                <a:ea typeface="Segoe UI"/>
              </a:rPr>
              <a:t>06  CLUSTERING</a:t>
            </a:r>
          </a:p>
        </p:txBody>
      </p:sp>
      <p:sp>
        <p:nvSpPr>
          <p:cNvPr id="100122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AFAFA"/>
                </a:solidFill>
                <a:latin typeface="Segoe UI"/>
                <a:ea typeface="Segoe UI"/>
              </a:rPr>
              <a:t>DBSCAN groups similar scenes</a:t>
            </a:r>
          </a:p>
        </p:txBody>
      </p:sp>
      <p:sp>
        <p:nvSpPr>
          <p:cNvPr id="100123" name="a"/>
          <p:cNvSpPr/>
          <p:nvPr/>
        </p:nvSpPr>
        <p:spPr>
          <a:xfrm xmlns:a="http://schemas.openxmlformats.org/drawingml/2006/main">
            <a:off x="648000" y="1008000"/>
            <a:ext cx="5220000" cy="28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4" name="at"/>
          <p:cNvSpPr txBox="1"/>
          <p:nvPr/>
        </p:nvSpPr>
        <p:spPr>
          <a:xfrm xmlns:a="http://schemas.openxmlformats.org/drawingml/2006/main">
            <a:off x="828000" y="1152000"/>
            <a:ext cx="48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Algorithm pipeline</a:t>
            </a:r>
          </a:p>
        </p:txBody>
      </p:sp>
      <p:sp>
        <p:nvSpPr>
          <p:cNvPr id="100125" name="ab"/>
          <p:cNvSpPr txBox="1"/>
          <p:nvPr/>
        </p:nvSpPr>
        <p:spPr>
          <a:xfrm xmlns:a="http://schemas.openxmlformats.org/drawingml/2006/main">
            <a:off x="828000" y="1440000"/>
            <a:ext cx="4860000" cy="22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1. StandardScaler on embedding matrix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   — equalizes feature variance before density search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2. DBSCAN metric=euclidean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   — density-based: no pre-set K clusters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3. Defaults (Settings-tunable):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   · eps = 0.5   (neighborhood radius)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   · min_samples = 2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4. Label written to scene cluster field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   — noise points get -1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5. UI color-codes clusters in Media Pool</a:t>
            </a:r>
          </a:p>
        </p:txBody>
      </p:sp>
      <p:sp>
        <p:nvSpPr>
          <p:cNvPr id="100126" name="b"/>
          <p:cNvSpPr/>
          <p:nvPr/>
        </p:nvSpPr>
        <p:spPr>
          <a:xfrm xmlns:a="http://schemas.openxmlformats.org/drawingml/2006/main">
            <a:off x="6048000" y="1008000"/>
            <a:ext cx="5220000" cy="129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7" name="bt"/>
          <p:cNvSpPr txBox="1"/>
          <p:nvPr/>
        </p:nvSpPr>
        <p:spPr>
          <a:xfrm xmlns:a="http://schemas.openxmlformats.org/drawingml/2006/main">
            <a:off x="6228000" y="1152000"/>
            <a:ext cx="486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AFAFA"/>
                </a:solidFill>
                <a:latin typeface="Segoe UI"/>
                <a:ea typeface="Segoe UI"/>
              </a:rPr>
              <a:t>Why DBSCAN over K-Means?</a:t>
            </a:r>
          </a:p>
        </p:txBody>
      </p:sp>
      <p:sp>
        <p:nvSpPr>
          <p:cNvPr id="100128" name="bb"/>
          <p:cNvSpPr txBox="1"/>
          <p:nvPr/>
        </p:nvSpPr>
        <p:spPr>
          <a:xfrm xmlns:a="http://schemas.openxmlformats.org/drawingml/2006/main">
            <a:off x="6228000" y="1440000"/>
            <a:ext cx="48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Video scene counts are unknown a priori. DBSCAN discovers natural density groups and isolates outliers instead of forcing every frame into a fixed K.</a:t>
            </a:r>
          </a:p>
        </p:txBody>
      </p:sp>
      <p:sp>
        <p:nvSpPr>
          <p:cNvPr id="100129" name="c"/>
          <p:cNvSpPr/>
          <p:nvPr/>
        </p:nvSpPr>
        <p:spPr>
          <a:xfrm xmlns:a="http://schemas.openxmlformats.org/drawingml/2006/main">
            <a:off x="6048000" y="2448000"/>
            <a:ext cx="5220000" cy="13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0" name="ct"/>
          <p:cNvSpPr txBox="1"/>
          <p:nvPr/>
        </p:nvSpPr>
        <p:spPr>
          <a:xfrm xmlns:a="http://schemas.openxmlformats.org/drawingml/2006/main">
            <a:off x="6228000" y="2592000"/>
            <a:ext cx="486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AFAFA"/>
                </a:solidFill>
                <a:latin typeface="Segoe UI"/>
                <a:ea typeface="Segoe UI"/>
              </a:rPr>
              <a:t>User controls (Settings panel)</a:t>
            </a:r>
          </a:p>
        </p:txBody>
      </p:sp>
      <p:sp>
        <p:nvSpPr>
          <p:cNvPr id="100131" name="cb"/>
          <p:cNvSpPr txBox="1"/>
          <p:nvPr/>
        </p:nvSpPr>
        <p:spPr>
          <a:xfrm xmlns:a="http://schemas.openxmlformats.org/drawingml/2006/main">
            <a:off x="6228000" y="2862000"/>
            <a:ext cx="486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Higher eps  → fewer, broader clusters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Lower eps   → more, tighter clusters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Higher min_samples → stricter core points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Re-run analysis after retuning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132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3" name="sec"/>
          <p:cNvSpPr txBox="1"/>
          <p:nvPr/>
        </p:nvSpPr>
        <p:spPr>
          <a:xfrm xmlns:a="http://schemas.openxmlformats.org/drawingml/2006/main">
            <a:off x="648000" y="324000"/>
            <a:ext cx="57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2C55E"/>
                </a:solidFill>
                <a:latin typeface="Segoe UI"/>
                <a:ea typeface="Segoe UI"/>
              </a:rPr>
              <a:t>07  CURATION &amp; EXPORT</a:t>
            </a:r>
          </a:p>
        </p:txBody>
      </p:sp>
      <p:sp>
        <p:nvSpPr>
          <p:cNvPr id="100134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AFAFA"/>
                </a:solidFill>
                <a:latin typeface="Segoe UI"/>
                <a:ea typeface="Segoe UI"/>
              </a:rPr>
              <a:t>Human-in-the-loop, lossless out</a:t>
            </a:r>
          </a:p>
        </p:txBody>
      </p:sp>
      <p:sp>
        <p:nvSpPr>
          <p:cNvPr id="100135" name="u0"/>
          <p:cNvSpPr/>
          <p:nvPr/>
        </p:nvSpPr>
        <p:spPr>
          <a:xfrm xmlns:a="http://schemas.openxmlformats.org/drawingml/2006/main">
            <a:off x="648000" y="1008000"/>
            <a:ext cx="3420000" cy="28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6" name="ua0"/>
          <p:cNvSpPr/>
          <p:nvPr/>
        </p:nvSpPr>
        <p:spPr>
          <a:xfrm xmlns:a="http://schemas.openxmlformats.org/drawingml/2006/main">
            <a:off x="648000" y="1008000"/>
            <a:ext cx="34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7" name="ut0"/>
          <p:cNvSpPr txBox="1"/>
          <p:nvPr/>
        </p:nvSpPr>
        <p:spPr>
          <a:xfrm xmlns:a="http://schemas.openxmlformats.org/drawingml/2006/main">
            <a:off x="828000" y="1188000"/>
            <a:ext cx="309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Media Pool</a:t>
            </a:r>
          </a:p>
        </p:txBody>
      </p:sp>
      <p:sp>
        <p:nvSpPr>
          <p:cNvPr id="100138" name="ub0"/>
          <p:cNvSpPr txBox="1"/>
          <p:nvPr/>
        </p:nvSpPr>
        <p:spPr>
          <a:xfrm xmlns:a="http://schemas.openxmlformats.org/drawingml/2006/main">
            <a:off x="828000" y="1476000"/>
            <a:ext cx="309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Clustered scene thumbnails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Hover → live preview worker (OpenCV decode of clip range)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Drag selected clusters into Timeline Queue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Dark/light theme via stylesheet</a:t>
            </a:r>
          </a:p>
        </p:txBody>
      </p:sp>
      <p:sp>
        <p:nvSpPr>
          <p:cNvPr id="100139" name="u1"/>
          <p:cNvSpPr/>
          <p:nvPr/>
        </p:nvSpPr>
        <p:spPr>
          <a:xfrm xmlns:a="http://schemas.openxmlformats.org/drawingml/2006/main">
            <a:off x="4248000" y="1008000"/>
            <a:ext cx="3420000" cy="28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0" name="ua1"/>
          <p:cNvSpPr/>
          <p:nvPr/>
        </p:nvSpPr>
        <p:spPr>
          <a:xfrm xmlns:a="http://schemas.openxmlformats.org/drawingml/2006/main">
            <a:off x="4248000" y="1008000"/>
            <a:ext cx="34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1" name="ut1"/>
          <p:cNvSpPr txBox="1"/>
          <p:nvPr/>
        </p:nvSpPr>
        <p:spPr>
          <a:xfrm xmlns:a="http://schemas.openxmlformats.org/drawingml/2006/main">
            <a:off x="4428000" y="1188000"/>
            <a:ext cx="309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Timeline Queue</a:t>
            </a:r>
          </a:p>
        </p:txBody>
      </p:sp>
      <p:sp>
        <p:nvSpPr>
          <p:cNvPr id="100142" name="ub1"/>
          <p:cNvSpPr txBox="1"/>
          <p:nvPr/>
        </p:nvSpPr>
        <p:spPr>
          <a:xfrm xmlns:a="http://schemas.openxmlformats.org/drawingml/2006/main">
            <a:off x="4428000" y="1476000"/>
            <a:ext cx="309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Reorder by drag-and-drop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Inline remove / keyboard shortcuts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Preserves scene start/end times for export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Custom TimelineDelegate for polish</a:t>
            </a:r>
          </a:p>
        </p:txBody>
      </p:sp>
      <p:sp>
        <p:nvSpPr>
          <p:cNvPr id="100143" name="u2"/>
          <p:cNvSpPr/>
          <p:nvPr/>
        </p:nvSpPr>
        <p:spPr>
          <a:xfrm xmlns:a="http://schemas.openxmlformats.org/drawingml/2006/main">
            <a:off x="7848000" y="1008000"/>
            <a:ext cx="3420000" cy="280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4" name="ua2"/>
          <p:cNvSpPr/>
          <p:nvPr/>
        </p:nvSpPr>
        <p:spPr>
          <a:xfrm xmlns:a="http://schemas.openxmlformats.org/drawingml/2006/main">
            <a:off x="7848000" y="1008000"/>
            <a:ext cx="34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5" name="ut2"/>
          <p:cNvSpPr txBox="1"/>
          <p:nvPr/>
        </p:nvSpPr>
        <p:spPr>
          <a:xfrm xmlns:a="http://schemas.openxmlformats.org/drawingml/2006/main">
            <a:off x="8028000" y="1188000"/>
            <a:ext cx="309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Lossless Export</a:t>
            </a:r>
          </a:p>
        </p:txBody>
      </p:sp>
      <p:sp>
        <p:nvSpPr>
          <p:cNvPr id="100146" name="ub2"/>
          <p:cNvSpPr txBox="1"/>
          <p:nvPr/>
        </p:nvSpPr>
        <p:spPr>
          <a:xfrm xmlns:a="http://schemas.openxmlformats.org/drawingml/2006/main">
            <a:off x="8028000" y="1476000"/>
            <a:ext cx="3096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Build concat_list.txt: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  file + inpoint + outpoint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ffmpeg -f concat -c copy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No re-encode → no quality loss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ExportWorker QThread keeps UI free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147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8" name="sec"/>
          <p:cNvSpPr txBox="1"/>
          <p:nvPr/>
        </p:nvSpPr>
        <p:spPr>
          <a:xfrm xmlns:a="http://schemas.openxmlformats.org/drawingml/2006/main">
            <a:off x="648000" y="32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563EB"/>
                </a:solidFill>
                <a:latin typeface="Segoe UI"/>
                <a:ea typeface="Segoe UI"/>
              </a:rPr>
              <a:t>08  ARCHITECTURE</a:t>
            </a:r>
          </a:p>
        </p:txBody>
      </p:sp>
      <p:sp>
        <p:nvSpPr>
          <p:cNvPr id="100149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AFAFA"/>
                </a:solidFill>
                <a:latin typeface="Segoe UI"/>
                <a:ea typeface="Segoe UI"/>
              </a:rPr>
              <a:t>Layered desktop system</a:t>
            </a:r>
          </a:p>
        </p:txBody>
      </p:sp>
      <p:sp>
        <p:nvSpPr>
          <p:cNvPr id="100150" name="L0"/>
          <p:cNvSpPr/>
          <p:nvPr/>
        </p:nvSpPr>
        <p:spPr>
          <a:xfrm xmlns:a="http://schemas.openxmlformats.org/drawingml/2006/main">
            <a:off x="648000" y="1044000"/>
            <a:ext cx="10620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2563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1" name="L0t"/>
          <p:cNvSpPr txBox="1"/>
          <p:nvPr/>
        </p:nvSpPr>
        <p:spPr>
          <a:xfrm xmlns:a="http://schemas.openxmlformats.org/drawingml/2006/main">
            <a:off x="792000" y="1098000"/>
            <a:ext cx="21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2563EB"/>
                </a:solidFill>
                <a:latin typeface="Segoe UI"/>
                <a:ea typeface="Segoe UI"/>
              </a:rPr>
              <a:t>UI Layer</a:t>
            </a:r>
          </a:p>
        </p:txBody>
      </p:sp>
      <p:sp>
        <p:nvSpPr>
          <p:cNvPr id="100152" name="L0d"/>
          <p:cNvSpPr txBox="1"/>
          <p:nvPr/>
        </p:nvSpPr>
        <p:spPr>
          <a:xfrm xmlns:a="http://schemas.openxmlformats.org/drawingml/2006/main">
            <a:off x="3060000" y="1152000"/>
            <a:ext cx="79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main.py · ui_components.py  —  MainWindow, SettingsDialog, SceneThumbnail, Timeline, Workers (QThread)</a:t>
            </a:r>
          </a:p>
        </p:txBody>
      </p:sp>
      <p:sp>
        <p:nvSpPr>
          <p:cNvPr id="100153" name="L1"/>
          <p:cNvSpPr/>
          <p:nvPr/>
        </p:nvSpPr>
        <p:spPr>
          <a:xfrm xmlns:a="http://schemas.openxmlformats.org/drawingml/2006/main">
            <a:off x="648000" y="1764000"/>
            <a:ext cx="10620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4" name="L1t"/>
          <p:cNvSpPr txBox="1"/>
          <p:nvPr/>
        </p:nvSpPr>
        <p:spPr>
          <a:xfrm xmlns:a="http://schemas.openxmlformats.org/drawingml/2006/main">
            <a:off x="792000" y="1818000"/>
            <a:ext cx="21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8B5CF6"/>
                </a:solidFill>
                <a:latin typeface="Segoe UI"/>
                <a:ea typeface="Segoe UI"/>
              </a:rPr>
              <a:t>Logic Layer</a:t>
            </a:r>
          </a:p>
        </p:txBody>
      </p:sp>
      <p:sp>
        <p:nvSpPr>
          <p:cNvPr id="100155" name="L1d"/>
          <p:cNvSpPr txBox="1"/>
          <p:nvPr/>
        </p:nvSpPr>
        <p:spPr>
          <a:xfrm xmlns:a="http://schemas.openxmlformats.org/drawingml/2006/main">
            <a:off x="3060000" y="1872000"/>
            <a:ext cx="79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ml_engine.py · video_processor.py  —  CLIP encode, DBSCAN, ffprobe parse, parallel extract</a:t>
            </a:r>
          </a:p>
        </p:txBody>
      </p:sp>
      <p:sp>
        <p:nvSpPr>
          <p:cNvPr id="100156" name="L2"/>
          <p:cNvSpPr/>
          <p:nvPr/>
        </p:nvSpPr>
        <p:spPr>
          <a:xfrm xmlns:a="http://schemas.openxmlformats.org/drawingml/2006/main">
            <a:off x="648000" y="2484000"/>
            <a:ext cx="10620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22C55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7" name="L2t"/>
          <p:cNvSpPr txBox="1"/>
          <p:nvPr/>
        </p:nvSpPr>
        <p:spPr>
          <a:xfrm xmlns:a="http://schemas.openxmlformats.org/drawingml/2006/main">
            <a:off x="792000" y="2538000"/>
            <a:ext cx="21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22C55E"/>
                </a:solidFill>
                <a:latin typeface="Segoe UI"/>
                <a:ea typeface="Segoe UI"/>
              </a:rPr>
              <a:t>Media Layer</a:t>
            </a:r>
          </a:p>
        </p:txBody>
      </p:sp>
      <p:sp>
        <p:nvSpPr>
          <p:cNvPr id="100158" name="L2d"/>
          <p:cNvSpPr txBox="1"/>
          <p:nvPr/>
        </p:nvSpPr>
        <p:spPr>
          <a:xfrm xmlns:a="http://schemas.openxmlformats.org/drawingml/2006/main">
            <a:off x="3060000" y="2592000"/>
            <a:ext cx="79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exporter.py · FFmpeg / ffprobe / OpenCV  —  concat demuxer, preview decode, PATH dependency checks</a:t>
            </a:r>
          </a:p>
        </p:txBody>
      </p:sp>
      <p:sp>
        <p:nvSpPr>
          <p:cNvPr id="100159" name="L3"/>
          <p:cNvSpPr/>
          <p:nvPr/>
        </p:nvSpPr>
        <p:spPr>
          <a:xfrm xmlns:a="http://schemas.openxmlformats.org/drawingml/2006/main">
            <a:off x="648000" y="3204000"/>
            <a:ext cx="10620000" cy="6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>
            <a:solidFill>
              <a:srgbClr val="F59E0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0" name="L3t"/>
          <p:cNvSpPr txBox="1"/>
          <p:nvPr/>
        </p:nvSpPr>
        <p:spPr>
          <a:xfrm xmlns:a="http://schemas.openxmlformats.org/drawingml/2006/main">
            <a:off x="792000" y="3258000"/>
            <a:ext cx="21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F59E0B"/>
                </a:solidFill>
                <a:latin typeface="Segoe UI"/>
                <a:ea typeface="Segoe UI"/>
              </a:rPr>
              <a:t>Runtime</a:t>
            </a:r>
          </a:p>
        </p:txBody>
      </p:sp>
      <p:sp>
        <p:nvSpPr>
          <p:cNvPr id="100161" name="L3d"/>
          <p:cNvSpPr txBox="1"/>
          <p:nvPr/>
        </p:nvSpPr>
        <p:spPr>
          <a:xfrm xmlns:a="http://schemas.openxmlformats.org/drawingml/2006/main">
            <a:off x="3060000" y="3312000"/>
            <a:ext cx="79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PyQt6 Fusion · Windows VBS launcher · PyInstaller Fracture.exe · local model cache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162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3" name="sec"/>
          <p:cNvSpPr txBox="1"/>
          <p:nvPr/>
        </p:nvSpPr>
        <p:spPr>
          <a:xfrm xmlns:a="http://schemas.openxmlformats.org/drawingml/2006/main">
            <a:off x="648000" y="324000"/>
            <a:ext cx="57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563EB"/>
                </a:solidFill>
                <a:latin typeface="Segoe UI"/>
                <a:ea typeface="Segoe UI"/>
              </a:rPr>
              <a:t>09  DESIGN DECISIONS</a:t>
            </a:r>
          </a:p>
        </p:txBody>
      </p:sp>
      <p:sp>
        <p:nvSpPr>
          <p:cNvPr id="100164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AFAFA"/>
                </a:solidFill>
                <a:latin typeface="Segoe UI"/>
                <a:ea typeface="Segoe UI"/>
              </a:rPr>
              <a:t>Trade-offs that shape Fracture</a:t>
            </a:r>
          </a:p>
        </p:txBody>
      </p:sp>
      <p:sp>
        <p:nvSpPr>
          <p:cNvPr id="100165" name="d0"/>
          <p:cNvSpPr/>
          <p:nvPr/>
        </p:nvSpPr>
        <p:spPr>
          <a:xfrm xmlns:a="http://schemas.openxmlformats.org/drawingml/2006/main">
            <a:off x="648000" y="1008000"/>
            <a:ext cx="3528000" cy="13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6" name="da0"/>
          <p:cNvSpPr/>
          <p:nvPr/>
        </p:nvSpPr>
        <p:spPr>
          <a:xfrm xmlns:a="http://schemas.openxmlformats.org/drawingml/2006/main">
            <a:off x="648000" y="1008000"/>
            <a:ext cx="3528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7" name="dt0"/>
          <p:cNvSpPr txBox="1"/>
          <p:nvPr/>
        </p:nvSpPr>
        <p:spPr>
          <a:xfrm xmlns:a="http://schemas.openxmlformats.org/drawingml/2006/main">
            <a:off x="792000" y="1152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FAFAFA"/>
                </a:solidFill>
                <a:latin typeface="Segoe UI"/>
                <a:ea typeface="Segoe UI"/>
              </a:rPr>
              <a:t>I-frames over full decode</a:t>
            </a:r>
          </a:p>
        </p:txBody>
      </p:sp>
      <p:sp>
        <p:nvSpPr>
          <p:cNvPr id="100168" name="dd0"/>
          <p:cNvSpPr txBox="1"/>
          <p:nvPr/>
        </p:nvSpPr>
        <p:spPr>
          <a:xfrm xmlns:a="http://schemas.openxmlformats.org/drawingml/2006/main">
            <a:off x="792000" y="1476000"/>
            <a:ext cx="324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Speed first. Misses soft dissolves that lack new keyframes — acceptable for most encoded cuts.</a:t>
            </a:r>
          </a:p>
        </p:txBody>
      </p:sp>
      <p:sp>
        <p:nvSpPr>
          <p:cNvPr id="100169" name="d1"/>
          <p:cNvSpPr/>
          <p:nvPr/>
        </p:nvSpPr>
        <p:spPr>
          <a:xfrm xmlns:a="http://schemas.openxmlformats.org/drawingml/2006/main">
            <a:off x="4428000" y="1008000"/>
            <a:ext cx="3528000" cy="13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0" name="da1"/>
          <p:cNvSpPr/>
          <p:nvPr/>
        </p:nvSpPr>
        <p:spPr>
          <a:xfrm xmlns:a="http://schemas.openxmlformats.org/drawingml/2006/main">
            <a:off x="4428000" y="1008000"/>
            <a:ext cx="3528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1" name="dt1"/>
          <p:cNvSpPr txBox="1"/>
          <p:nvPr/>
        </p:nvSpPr>
        <p:spPr>
          <a:xfrm xmlns:a="http://schemas.openxmlformats.org/drawingml/2006/main">
            <a:off x="4572000" y="1152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FAFAFA"/>
                </a:solidFill>
                <a:latin typeface="Segoe UI"/>
                <a:ea typeface="Segoe UI"/>
              </a:rPr>
              <a:t>CLIP over handcrafted features</a:t>
            </a:r>
          </a:p>
        </p:txBody>
      </p:sp>
      <p:sp>
        <p:nvSpPr>
          <p:cNvPr id="100172" name="dd1"/>
          <p:cNvSpPr txBox="1"/>
          <p:nvPr/>
        </p:nvSpPr>
        <p:spPr>
          <a:xfrm xmlns:a="http://schemas.openxmlformats.org/drawingml/2006/main">
            <a:off x="4572000" y="1476000"/>
            <a:ext cx="324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Semantic robustness without labeled data; model download + RAM cost on first run.</a:t>
            </a:r>
          </a:p>
        </p:txBody>
      </p:sp>
      <p:sp>
        <p:nvSpPr>
          <p:cNvPr id="100173" name="d2"/>
          <p:cNvSpPr/>
          <p:nvPr/>
        </p:nvSpPr>
        <p:spPr>
          <a:xfrm xmlns:a="http://schemas.openxmlformats.org/drawingml/2006/main">
            <a:off x="8208000" y="1008000"/>
            <a:ext cx="3528000" cy="13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4" name="da2"/>
          <p:cNvSpPr/>
          <p:nvPr/>
        </p:nvSpPr>
        <p:spPr>
          <a:xfrm xmlns:a="http://schemas.openxmlformats.org/drawingml/2006/main">
            <a:off x="8208000" y="1008000"/>
            <a:ext cx="3528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5" name="dt2"/>
          <p:cNvSpPr txBox="1"/>
          <p:nvPr/>
        </p:nvSpPr>
        <p:spPr>
          <a:xfrm xmlns:a="http://schemas.openxmlformats.org/drawingml/2006/main">
            <a:off x="8352000" y="1152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FAFAFA"/>
                </a:solidFill>
                <a:latin typeface="Segoe UI"/>
                <a:ea typeface="Segoe UI"/>
              </a:rPr>
              <a:t>DBSCAN over fixed-K</a:t>
            </a:r>
          </a:p>
        </p:txBody>
      </p:sp>
      <p:sp>
        <p:nvSpPr>
          <p:cNvPr id="100176" name="dd2"/>
          <p:cNvSpPr txBox="1"/>
          <p:nvPr/>
        </p:nvSpPr>
        <p:spPr>
          <a:xfrm xmlns:a="http://schemas.openxmlformats.org/drawingml/2006/main">
            <a:off x="8352000" y="1476000"/>
            <a:ext cx="324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Unknown cluster count; eps tuning required for best results.</a:t>
            </a:r>
          </a:p>
        </p:txBody>
      </p:sp>
      <p:sp>
        <p:nvSpPr>
          <p:cNvPr id="100177" name="d3"/>
          <p:cNvSpPr/>
          <p:nvPr/>
        </p:nvSpPr>
        <p:spPr>
          <a:xfrm xmlns:a="http://schemas.openxmlformats.org/drawingml/2006/main">
            <a:off x="648000" y="2520000"/>
            <a:ext cx="3528000" cy="13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8" name="da3"/>
          <p:cNvSpPr/>
          <p:nvPr/>
        </p:nvSpPr>
        <p:spPr>
          <a:xfrm xmlns:a="http://schemas.openxmlformats.org/drawingml/2006/main">
            <a:off x="648000" y="2520000"/>
            <a:ext cx="3528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9" name="dt3"/>
          <p:cNvSpPr txBox="1"/>
          <p:nvPr/>
        </p:nvSpPr>
        <p:spPr>
          <a:xfrm xmlns:a="http://schemas.openxmlformats.org/drawingml/2006/main">
            <a:off x="792000" y="2664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FAFAFA"/>
                </a:solidFill>
                <a:latin typeface="Segoe UI"/>
                <a:ea typeface="Segoe UI"/>
              </a:rPr>
              <a:t>Stream-copy export</a:t>
            </a:r>
          </a:p>
        </p:txBody>
      </p:sp>
      <p:sp>
        <p:nvSpPr>
          <p:cNvPr id="100180" name="dd3"/>
          <p:cNvSpPr txBox="1"/>
          <p:nvPr/>
        </p:nvSpPr>
        <p:spPr>
          <a:xfrm xmlns:a="http://schemas.openxmlformats.org/drawingml/2006/main">
            <a:off x="792000" y="2988000"/>
            <a:ext cx="324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Zero quality loss, but cut points must land on keyframes for clean seeks.</a:t>
            </a:r>
          </a:p>
        </p:txBody>
      </p:sp>
      <p:sp>
        <p:nvSpPr>
          <p:cNvPr id="100181" name="d4"/>
          <p:cNvSpPr/>
          <p:nvPr/>
        </p:nvSpPr>
        <p:spPr>
          <a:xfrm xmlns:a="http://schemas.openxmlformats.org/drawingml/2006/main">
            <a:off x="4428000" y="2520000"/>
            <a:ext cx="3528000" cy="13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2" name="da4"/>
          <p:cNvSpPr/>
          <p:nvPr/>
        </p:nvSpPr>
        <p:spPr>
          <a:xfrm xmlns:a="http://schemas.openxmlformats.org/drawingml/2006/main">
            <a:off x="4428000" y="2520000"/>
            <a:ext cx="3528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3" name="dt4"/>
          <p:cNvSpPr txBox="1"/>
          <p:nvPr/>
        </p:nvSpPr>
        <p:spPr>
          <a:xfrm xmlns:a="http://schemas.openxmlformats.org/drawingml/2006/main">
            <a:off x="4572000" y="2664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FAFAFA"/>
                </a:solidFill>
                <a:latin typeface="Segoe UI"/>
                <a:ea typeface="Segoe UI"/>
              </a:rPr>
              <a:t>Background QThreads</a:t>
            </a:r>
          </a:p>
        </p:txBody>
      </p:sp>
      <p:sp>
        <p:nvSpPr>
          <p:cNvPr id="100184" name="dd4"/>
          <p:cNvSpPr txBox="1"/>
          <p:nvPr/>
        </p:nvSpPr>
        <p:spPr>
          <a:xfrm xmlns:a="http://schemas.openxmlformats.org/drawingml/2006/main">
            <a:off x="4572000" y="2988000"/>
            <a:ext cx="324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UI stays responsive; cancel flags for analysis/export workers.</a:t>
            </a:r>
          </a:p>
        </p:txBody>
      </p:sp>
      <p:sp>
        <p:nvSpPr>
          <p:cNvPr id="100185" name="d5"/>
          <p:cNvSpPr/>
          <p:nvPr/>
        </p:nvSpPr>
        <p:spPr>
          <a:xfrm xmlns:a="http://schemas.openxmlformats.org/drawingml/2006/main">
            <a:off x="8208000" y="2520000"/>
            <a:ext cx="3528000" cy="13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6" name="da5"/>
          <p:cNvSpPr/>
          <p:nvPr/>
        </p:nvSpPr>
        <p:spPr>
          <a:xfrm xmlns:a="http://schemas.openxmlformats.org/drawingml/2006/main">
            <a:off x="8208000" y="2520000"/>
            <a:ext cx="3528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7" name="dt5"/>
          <p:cNvSpPr txBox="1"/>
          <p:nvPr/>
        </p:nvSpPr>
        <p:spPr>
          <a:xfrm xmlns:a="http://schemas.openxmlformats.org/drawingml/2006/main">
            <a:off x="8352000" y="2664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b="1">
                <a:solidFill>
                  <a:srgbClr val="FAFAFA"/>
                </a:solidFill>
                <a:latin typeface="Segoe UI"/>
                <a:ea typeface="Segoe UI"/>
              </a:rPr>
              <a:t>Fully local stack</a:t>
            </a:r>
          </a:p>
        </p:txBody>
      </p:sp>
      <p:sp>
        <p:nvSpPr>
          <p:cNvPr id="100188" name="dd5"/>
          <p:cNvSpPr txBox="1"/>
          <p:nvPr/>
        </p:nvSpPr>
        <p:spPr>
          <a:xfrm xmlns:a="http://schemas.openxmlformats.org/drawingml/2006/main">
            <a:off x="8352000" y="2988000"/>
            <a:ext cx="324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A1A1AA"/>
                </a:solidFill>
                <a:latin typeface="Segoe UI"/>
                <a:ea typeface="Segoe UI"/>
              </a:rPr>
              <a:t>Privacy + offline use; no server cost, user must install FFmpeg.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189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0" name="sec"/>
          <p:cNvSpPr txBox="1"/>
          <p:nvPr/>
        </p:nvSpPr>
        <p:spPr>
          <a:xfrm xmlns:a="http://schemas.openxmlformats.org/drawingml/2006/main">
            <a:off x="648000" y="324000"/>
            <a:ext cx="57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563EB"/>
                </a:solidFill>
                <a:latin typeface="Segoe UI"/>
                <a:ea typeface="Segoe UI"/>
              </a:rPr>
              <a:t>10  TECHNOLOGY STACK</a:t>
            </a:r>
          </a:p>
        </p:txBody>
      </p:sp>
      <p:sp>
        <p:nvSpPr>
          <p:cNvPr id="100191" name="title"/>
          <p:cNvSpPr txBox="1"/>
          <p:nvPr/>
        </p:nvSpPr>
        <p:spPr>
          <a:xfrm xmlns:a="http://schemas.openxmlformats.org/drawingml/2006/main">
            <a:off x="648000" y="540000"/>
            <a:ext cx="100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AFAFA"/>
                </a:solidFill>
                <a:latin typeface="Segoe UI"/>
                <a:ea typeface="Segoe UI"/>
              </a:rPr>
              <a:t>Libraries &amp; system tools</a:t>
            </a:r>
          </a:p>
        </p:txBody>
      </p:sp>
      <p:sp>
        <p:nvSpPr>
          <p:cNvPr id="100192" name="sk0"/>
          <p:cNvSpPr/>
          <p:nvPr/>
        </p:nvSpPr>
        <p:spPr>
          <a:xfrm xmlns:a="http://schemas.openxmlformats.org/drawingml/2006/main">
            <a:off x="648000" y="1044000"/>
            <a:ext cx="349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3" name="skd0"/>
          <p:cNvSpPr/>
          <p:nvPr/>
        </p:nvSpPr>
        <p:spPr>
          <a:xfrm xmlns:a="http://schemas.openxmlformats.org/drawingml/2006/main">
            <a:off x="810000" y="1242000"/>
            <a:ext cx="198000" cy="19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4" name="skt0"/>
          <p:cNvSpPr txBox="1"/>
          <p:nvPr/>
        </p:nvSpPr>
        <p:spPr>
          <a:xfrm xmlns:a="http://schemas.openxmlformats.org/drawingml/2006/main">
            <a:off x="1116000" y="1224000"/>
            <a:ext cx="2808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GUI</a:t>
            </a:r>
          </a:p>
        </p:txBody>
      </p:sp>
      <p:sp>
        <p:nvSpPr>
          <p:cNvPr id="100195" name="ski0"/>
          <p:cNvSpPr txBox="1"/>
          <p:nvPr/>
        </p:nvSpPr>
        <p:spPr>
          <a:xfrm xmlns:a="http://schemas.openxmlformats.org/drawingml/2006/main">
            <a:off x="810000" y="1584000"/>
            <a:ext cx="316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PyQt6 · Fusion style · custom QSS</a:t>
            </a:r>
          </a:p>
        </p:txBody>
      </p:sp>
      <p:sp>
        <p:nvSpPr>
          <p:cNvPr id="100196" name="sk1"/>
          <p:cNvSpPr/>
          <p:nvPr/>
        </p:nvSpPr>
        <p:spPr>
          <a:xfrm xmlns:a="http://schemas.openxmlformats.org/drawingml/2006/main">
            <a:off x="4320000" y="1044000"/>
            <a:ext cx="349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7" name="skd1"/>
          <p:cNvSpPr/>
          <p:nvPr/>
        </p:nvSpPr>
        <p:spPr>
          <a:xfrm xmlns:a="http://schemas.openxmlformats.org/drawingml/2006/main">
            <a:off x="4482000" y="1242000"/>
            <a:ext cx="198000" cy="19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8" name="skt1"/>
          <p:cNvSpPr txBox="1"/>
          <p:nvPr/>
        </p:nvSpPr>
        <p:spPr>
          <a:xfrm xmlns:a="http://schemas.openxmlformats.org/drawingml/2006/main">
            <a:off x="4788000" y="1224000"/>
            <a:ext cx="2808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Video I/O</a:t>
            </a:r>
          </a:p>
        </p:txBody>
      </p:sp>
      <p:sp>
        <p:nvSpPr>
          <p:cNvPr id="100199" name="ski1"/>
          <p:cNvSpPr txBox="1"/>
          <p:nvPr/>
        </p:nvSpPr>
        <p:spPr>
          <a:xfrm xmlns:a="http://schemas.openxmlformats.org/drawingml/2006/main">
            <a:off x="4482000" y="1584000"/>
            <a:ext cx="316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FFmpeg · ffprobe · OpenCV (cv2)</a:t>
            </a:r>
          </a:p>
        </p:txBody>
      </p:sp>
      <p:sp>
        <p:nvSpPr>
          <p:cNvPr id="100200" name="sk2"/>
          <p:cNvSpPr/>
          <p:nvPr/>
        </p:nvSpPr>
        <p:spPr>
          <a:xfrm xmlns:a="http://schemas.openxmlformats.org/drawingml/2006/main">
            <a:off x="7992000" y="1044000"/>
            <a:ext cx="349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1" name="skd2"/>
          <p:cNvSpPr/>
          <p:nvPr/>
        </p:nvSpPr>
        <p:spPr>
          <a:xfrm xmlns:a="http://schemas.openxmlformats.org/drawingml/2006/main">
            <a:off x="8154000" y="1242000"/>
            <a:ext cx="198000" cy="19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2" name="skt2"/>
          <p:cNvSpPr txBox="1"/>
          <p:nvPr/>
        </p:nvSpPr>
        <p:spPr>
          <a:xfrm xmlns:a="http://schemas.openxmlformats.org/drawingml/2006/main">
            <a:off x="8460000" y="1224000"/>
            <a:ext cx="2808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ML</a:t>
            </a:r>
          </a:p>
        </p:txBody>
      </p:sp>
      <p:sp>
        <p:nvSpPr>
          <p:cNvPr id="100203" name="ski2"/>
          <p:cNvSpPr txBox="1"/>
          <p:nvPr/>
        </p:nvSpPr>
        <p:spPr>
          <a:xfrm xmlns:a="http://schemas.openxmlformats.org/drawingml/2006/main">
            <a:off x="8154000" y="1584000"/>
            <a:ext cx="316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sentence-transformers · CLIP ViT-B/32</a:t>
            </a:r>
          </a:p>
        </p:txBody>
      </p:sp>
      <p:sp>
        <p:nvSpPr>
          <p:cNvPr id="100204" name="sk3"/>
          <p:cNvSpPr/>
          <p:nvPr/>
        </p:nvSpPr>
        <p:spPr>
          <a:xfrm xmlns:a="http://schemas.openxmlformats.org/drawingml/2006/main">
            <a:off x="648000" y="2448000"/>
            <a:ext cx="349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5" name="skd3"/>
          <p:cNvSpPr/>
          <p:nvPr/>
        </p:nvSpPr>
        <p:spPr>
          <a:xfrm xmlns:a="http://schemas.openxmlformats.org/drawingml/2006/main">
            <a:off x="810000" y="2646000"/>
            <a:ext cx="198000" cy="19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6" name="skt3"/>
          <p:cNvSpPr txBox="1"/>
          <p:nvPr/>
        </p:nvSpPr>
        <p:spPr>
          <a:xfrm xmlns:a="http://schemas.openxmlformats.org/drawingml/2006/main">
            <a:off x="1116000" y="2628000"/>
            <a:ext cx="2808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Clustering</a:t>
            </a:r>
          </a:p>
        </p:txBody>
      </p:sp>
      <p:sp>
        <p:nvSpPr>
          <p:cNvPr id="100207" name="ski3"/>
          <p:cNvSpPr txBox="1"/>
          <p:nvPr/>
        </p:nvSpPr>
        <p:spPr>
          <a:xfrm xmlns:a="http://schemas.openxmlformats.org/drawingml/2006/main">
            <a:off x="810000" y="2988000"/>
            <a:ext cx="316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scikit-learn DBSCAN · StandardScaler · NumPy</a:t>
            </a:r>
          </a:p>
        </p:txBody>
      </p:sp>
      <p:sp>
        <p:nvSpPr>
          <p:cNvPr id="100208" name="sk4"/>
          <p:cNvSpPr/>
          <p:nvPr/>
        </p:nvSpPr>
        <p:spPr>
          <a:xfrm xmlns:a="http://schemas.openxmlformats.org/drawingml/2006/main">
            <a:off x="4320000" y="2448000"/>
            <a:ext cx="349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9" name="skd4"/>
          <p:cNvSpPr/>
          <p:nvPr/>
        </p:nvSpPr>
        <p:spPr>
          <a:xfrm xmlns:a="http://schemas.openxmlformats.org/drawingml/2006/main">
            <a:off x="4482000" y="2646000"/>
            <a:ext cx="198000" cy="19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0" name="skt4"/>
          <p:cNvSpPr txBox="1"/>
          <p:nvPr/>
        </p:nvSpPr>
        <p:spPr>
          <a:xfrm xmlns:a="http://schemas.openxmlformats.org/drawingml/2006/main">
            <a:off x="4788000" y="2628000"/>
            <a:ext cx="2808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Images</a:t>
            </a:r>
          </a:p>
        </p:txBody>
      </p:sp>
      <p:sp>
        <p:nvSpPr>
          <p:cNvPr id="100211" name="ski4"/>
          <p:cNvSpPr txBox="1"/>
          <p:nvPr/>
        </p:nvSpPr>
        <p:spPr>
          <a:xfrm xmlns:a="http://schemas.openxmlformats.org/drawingml/2006/main">
            <a:off x="4482000" y="2988000"/>
            <a:ext cx="316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Pillow (PIL) for embedding input</a:t>
            </a:r>
          </a:p>
        </p:txBody>
      </p:sp>
      <p:sp>
        <p:nvSpPr>
          <p:cNvPr id="100212" name="sk5"/>
          <p:cNvSpPr/>
          <p:nvPr/>
        </p:nvSpPr>
        <p:spPr>
          <a:xfrm xmlns:a="http://schemas.openxmlformats.org/drawingml/2006/main">
            <a:off x="7992000" y="2448000"/>
            <a:ext cx="3492000" cy="12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3" name="skd5"/>
          <p:cNvSpPr/>
          <p:nvPr/>
        </p:nvSpPr>
        <p:spPr>
          <a:xfrm xmlns:a="http://schemas.openxmlformats.org/drawingml/2006/main">
            <a:off x="8154000" y="2646000"/>
            <a:ext cx="198000" cy="19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4" name="skt5"/>
          <p:cNvSpPr txBox="1"/>
          <p:nvPr/>
        </p:nvSpPr>
        <p:spPr>
          <a:xfrm xmlns:a="http://schemas.openxmlformats.org/drawingml/2006/main">
            <a:off x="8460000" y="2628000"/>
            <a:ext cx="2808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AFAFA"/>
                </a:solidFill>
                <a:latin typeface="Segoe UI"/>
                <a:ea typeface="Segoe UI"/>
              </a:rPr>
              <a:t>Packaging</a:t>
            </a:r>
          </a:p>
        </p:txBody>
      </p:sp>
      <p:sp>
        <p:nvSpPr>
          <p:cNvPr id="100215" name="ski5"/>
          <p:cNvSpPr txBox="1"/>
          <p:nvPr/>
        </p:nvSpPr>
        <p:spPr>
          <a:xfrm xmlns:a="http://schemas.openxmlformats.org/drawingml/2006/main">
            <a:off x="8154000" y="2988000"/>
            <a:ext cx="316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PyInstaller · Fracture.spec · Fracture.vbs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/>
      <p:sp>
        <p:nvSpPr>
          <p:cNvPr id="100216" name="orb"/>
          <p:cNvSpPr/>
          <p:nvPr/>
        </p:nvSpPr>
        <p:spPr>
          <a:xfrm xmlns:a="http://schemas.openxmlformats.org/drawingml/2006/main">
            <a:off x="8640000" y="0"/>
            <a:ext cx="4320000" cy="43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>
              <a:alpha val="1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7" name="bar"/>
          <p:cNvSpPr/>
          <p:nvPr/>
        </p:nvSpPr>
        <p:spPr>
          <a:xfrm xmlns:a="http://schemas.openxmlformats.org/drawingml/2006/main">
            <a:off x="0" y="0"/>
            <a:ext cx="5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8" name="sec"/>
          <p:cNvSpPr txBox="1"/>
          <p:nvPr/>
        </p:nvSpPr>
        <p:spPr>
          <a:xfrm xmlns:a="http://schemas.openxmlformats.org/drawingml/2006/main">
            <a:off x="648000" y="360000"/>
            <a:ext cx="43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 b="1">
                <a:solidFill>
                  <a:srgbClr val="2563EB"/>
                </a:solidFill>
                <a:latin typeface="Segoe UI"/>
                <a:ea typeface="Segoe UI"/>
              </a:rPr>
              <a:t>11  SUMMARY</a:t>
            </a:r>
          </a:p>
        </p:txBody>
      </p:sp>
      <p:sp>
        <p:nvSpPr>
          <p:cNvPr id="100219" name="title"/>
          <p:cNvSpPr txBox="1"/>
          <p:nvPr/>
        </p:nvSpPr>
        <p:spPr>
          <a:xfrm xmlns:a="http://schemas.openxmlformats.org/drawingml/2006/main">
            <a:off x="648000" y="61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FAFAFA"/>
                </a:solidFill>
                <a:latin typeface="Segoe UI"/>
                <a:ea typeface="Segoe UI"/>
              </a:rPr>
              <a:t>Methodology in one line</a:t>
            </a:r>
          </a:p>
        </p:txBody>
      </p:sp>
      <p:sp>
        <p:nvSpPr>
          <p:cNvPr id="100220" name="line"/>
          <p:cNvSpPr txBox="1"/>
          <p:nvPr/>
        </p:nvSpPr>
        <p:spPr>
          <a:xfrm xmlns:a="http://schemas.openxmlformats.org/drawingml/2006/main">
            <a:off x="648000" y="1080000"/>
            <a:ext cx="100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A1A1AA"/>
                </a:solidFill>
                <a:latin typeface="Segoe UI"/>
                <a:ea typeface="Segoe UI"/>
              </a:rPr>
              <a:t>Detect cuts from I-frames → embed mid-frames with CLIP → density-cluster with DBSCAN → curate → stream-copy export.</a:t>
            </a:r>
          </a:p>
        </p:txBody>
      </p:sp>
      <p:sp>
        <p:nvSpPr>
          <p:cNvPr id="100221" name="k0"/>
          <p:cNvSpPr/>
          <p:nvPr/>
        </p:nvSpPr>
        <p:spPr>
          <a:xfrm xmlns:a="http://schemas.openxmlformats.org/drawingml/2006/main">
            <a:off x="648000" y="1800000"/>
            <a:ext cx="3420000" cy="15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2" name="kt0"/>
          <p:cNvSpPr txBox="1"/>
          <p:nvPr/>
        </p:nvSpPr>
        <p:spPr>
          <a:xfrm xmlns:a="http://schemas.openxmlformats.org/drawingml/2006/main">
            <a:off x="828000" y="1980000"/>
            <a:ext cx="30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06B6D4"/>
                </a:solidFill>
                <a:latin typeface="Segoe UI"/>
                <a:ea typeface="Segoe UI"/>
              </a:rPr>
              <a:t>Fast</a:t>
            </a:r>
          </a:p>
        </p:txBody>
      </p:sp>
      <p:sp>
        <p:nvSpPr>
          <p:cNvPr id="100223" name="kd0"/>
          <p:cNvSpPr txBox="1"/>
          <p:nvPr/>
        </p:nvSpPr>
        <p:spPr>
          <a:xfrm xmlns:a="http://schemas.openxmlformats.org/drawingml/2006/main">
            <a:off x="828000" y="2304000"/>
            <a:ext cx="306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Packet-level scene cuts + parallel thumbnail extraction, not full frame decode.</a:t>
            </a:r>
          </a:p>
        </p:txBody>
      </p:sp>
      <p:sp>
        <p:nvSpPr>
          <p:cNvPr id="100224" name="k1"/>
          <p:cNvSpPr/>
          <p:nvPr/>
        </p:nvSpPr>
        <p:spPr>
          <a:xfrm xmlns:a="http://schemas.openxmlformats.org/drawingml/2006/main">
            <a:off x="4320000" y="1800000"/>
            <a:ext cx="3420000" cy="15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5" name="kt1"/>
          <p:cNvSpPr txBox="1"/>
          <p:nvPr/>
        </p:nvSpPr>
        <p:spPr>
          <a:xfrm xmlns:a="http://schemas.openxmlformats.org/drawingml/2006/main">
            <a:off x="4500000" y="1980000"/>
            <a:ext cx="30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8B5CF6"/>
                </a:solidFill>
                <a:latin typeface="Segoe UI"/>
                <a:ea typeface="Segoe UI"/>
              </a:rPr>
              <a:t>Semantic</a:t>
            </a:r>
          </a:p>
        </p:txBody>
      </p:sp>
      <p:sp>
        <p:nvSpPr>
          <p:cNvPr id="100226" name="kd1"/>
          <p:cNvSpPr txBox="1"/>
          <p:nvPr/>
        </p:nvSpPr>
        <p:spPr>
          <a:xfrm xmlns:a="http://schemas.openxmlformats.org/drawingml/2006/main">
            <a:off x="4500000" y="2304000"/>
            <a:ext cx="306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CLIP embeddings + DBSCAN group visually related scenes without predefining K.</a:t>
            </a:r>
          </a:p>
        </p:txBody>
      </p:sp>
      <p:sp>
        <p:nvSpPr>
          <p:cNvPr id="100227" name="k2"/>
          <p:cNvSpPr/>
          <p:nvPr/>
        </p:nvSpPr>
        <p:spPr>
          <a:xfrm xmlns:a="http://schemas.openxmlformats.org/drawingml/2006/main">
            <a:off x="7992000" y="1800000"/>
            <a:ext cx="3420000" cy="15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81B">
              <a:alpha val="100000"/>
            </a:srgbClr>
          </a:solidFill>
          <a:ln xmlns:a="http://schemas.openxmlformats.org/drawingml/2006/main">
            <a:solidFill>
              <a:srgbClr val="2727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8" name="kt2"/>
          <p:cNvSpPr txBox="1"/>
          <p:nvPr/>
        </p:nvSpPr>
        <p:spPr>
          <a:xfrm xmlns:a="http://schemas.openxmlformats.org/drawingml/2006/main">
            <a:off x="8172000" y="1980000"/>
            <a:ext cx="30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1">
                <a:solidFill>
                  <a:srgbClr val="22C55E"/>
                </a:solidFill>
                <a:latin typeface="Segoe UI"/>
                <a:ea typeface="Segoe UI"/>
              </a:rPr>
              <a:t>Lossless</a:t>
            </a:r>
          </a:p>
        </p:txBody>
      </p:sp>
      <p:sp>
        <p:nvSpPr>
          <p:cNvPr id="100229" name="kd2"/>
          <p:cNvSpPr txBox="1"/>
          <p:nvPr/>
        </p:nvSpPr>
        <p:spPr>
          <a:xfrm xmlns:a="http://schemas.openxmlformats.org/drawingml/2006/main">
            <a:off x="8172000" y="2304000"/>
            <a:ext cx="306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A1A1AA"/>
                </a:solidFill>
                <a:latin typeface="Segoe UI"/>
                <a:ea typeface="Segoe UI"/>
              </a:rPr>
              <a:t>FFmpeg concat demuxer with -c copy preserves original bitstreams.</a:t>
            </a:r>
          </a:p>
        </p:txBody>
      </p:sp>
      <p:sp>
        <p:nvSpPr>
          <p:cNvPr id="100230" name="end"/>
          <p:cNvSpPr txBox="1"/>
          <p:nvPr/>
        </p:nvSpPr>
        <p:spPr>
          <a:xfrm xmlns:a="http://schemas.openxmlformats.org/drawingml/2006/main">
            <a:off x="648000" y="3600000"/>
            <a:ext cx="10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A1A1AA"/>
                </a:solidFill>
                <a:latin typeface="Segoe UI"/>
                <a:ea typeface="Segoe UI"/>
              </a:rPr>
              <a:t>Fracture  ·  Local AI video scene assistant  ·  methodology deck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OfficeCLI/1.0.140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Fracture</dc:creator>
  <dcterms:created xsi:type="dcterms:W3CDTF">2026-07-23T10:09:33.0000000Z</dcterms:created>
  <lastModifiedBy>OfficeCLI</lastModifiedBy>
  <dcterms:modified xsi:type="dcterms:W3CDTF">2026-07-23T10:09:34.7382357Z</dcterms:modified>
  <dc:title>Fracture Methodology</dc:title>
  <dc:description>Technical methodology for Fracture AI video scene clustering</dc:description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1.0.140</vt:lpwstr>
  </op:property>
  <op:property fmtid="{D5CDD505-2E9C-101B-9397-08002B2CF9AE}" pid="3" name="OfficeCLI.LastModified">
    <vt:lpwstr xmlns:vt="http://schemas.openxmlformats.org/officeDocument/2006/docPropsVTypes">2026-07-23T10:11:03Z</vt:lpwstr>
  </op:property>
</op:Properties>
</file>